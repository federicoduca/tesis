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heme/themeOverride1.xml" ContentType="application/vnd.openxmlformats-officedocument.themeOverr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tags/tag7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tags/tag8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tags/tag9.xml" ContentType="application/vnd.openxmlformats-officedocument.presentationml.tags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  <p:sldMasterId id="2147483742" r:id="rId2"/>
    <p:sldMasterId id="2147483748" r:id="rId3"/>
    <p:sldMasterId id="2147483751" r:id="rId4"/>
    <p:sldMasterId id="2147483746" r:id="rId5"/>
    <p:sldMasterId id="2147483755" r:id="rId6"/>
    <p:sldMasterId id="2147483743" r:id="rId7"/>
    <p:sldMasterId id="2147483735" r:id="rId8"/>
  </p:sldMasterIdLst>
  <p:notesMasterIdLst>
    <p:notesMasterId r:id="rId16"/>
  </p:notesMasterIdLst>
  <p:handoutMasterIdLst>
    <p:handoutMasterId r:id="rId17"/>
  </p:handoutMasterIdLst>
  <p:sldIdLst>
    <p:sldId id="1354" r:id="rId9"/>
    <p:sldId id="2013" r:id="rId10"/>
    <p:sldId id="2014" r:id="rId11"/>
    <p:sldId id="2016" r:id="rId12"/>
    <p:sldId id="2017" r:id="rId13"/>
    <p:sldId id="2015" r:id="rId14"/>
    <p:sldId id="1934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1" userDrawn="1">
          <p15:clr>
            <a:srgbClr val="A4A3A4"/>
          </p15:clr>
        </p15:guide>
        <p15:guide id="2" pos="2457" userDrawn="1">
          <p15:clr>
            <a:srgbClr val="A4A3A4"/>
          </p15:clr>
        </p15:guide>
        <p15:guide id="3" orient="horz" pos="867" userDrawn="1">
          <p15:clr>
            <a:srgbClr val="A4A3A4"/>
          </p15:clr>
        </p15:guide>
        <p15:guide id="4" pos="19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B9E3"/>
    <a:srgbClr val="FFFEB1"/>
    <a:srgbClr val="B2FDDF"/>
    <a:srgbClr val="FED8BB"/>
    <a:srgbClr val="E1295A"/>
    <a:srgbClr val="34373D"/>
    <a:srgbClr val="000000"/>
    <a:srgbClr val="DADADA"/>
    <a:srgbClr val="D0D0D0"/>
    <a:srgbClr val="57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48" autoAdjust="0"/>
    <p:restoredTop sz="88710" autoAdjust="0"/>
  </p:normalViewPr>
  <p:slideViewPr>
    <p:cSldViewPr snapToGrid="0" snapToObjects="1">
      <p:cViewPr varScale="1">
        <p:scale>
          <a:sx n="74" d="100"/>
          <a:sy n="74" d="100"/>
        </p:scale>
        <p:origin x="1138" y="67"/>
      </p:cViewPr>
      <p:guideLst>
        <p:guide orient="horz" pos="981"/>
        <p:guide pos="2457"/>
        <p:guide orient="horz" pos="867"/>
        <p:guide pos="1958"/>
      </p:guideLst>
    </p:cSldViewPr>
  </p:slideViewPr>
  <p:outlineViewPr>
    <p:cViewPr>
      <p:scale>
        <a:sx n="33" d="100"/>
        <a:sy n="33" d="100"/>
      </p:scale>
      <p:origin x="0" y="-257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1000"/>
    </p:cViewPr>
  </p:sorterViewPr>
  <p:notesViewPr>
    <p:cSldViewPr snapToGrid="0" snapToObjects="1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handoutMaster" Target="handoutMasters/handoutMaster1.xml"/><Relationship Id="rId46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658A7-05CF-5E40-B18D-F7C42D11219D}" type="datetimeFigureOut">
              <a:rPr lang="en-US" smtClean="0">
                <a:latin typeface="Arial" charset="0"/>
              </a:rPr>
              <a:t>8/19/2020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FA32B-0DCD-B448-8B17-A03B8E637285}" type="slidenum">
              <a:rPr lang="en-US" smtClean="0">
                <a:latin typeface="Arial" charset="0"/>
              </a:rPr>
              <a:t>‹Nº›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3590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charset="0"/>
              </a:defRPr>
            </a:lvl1pPr>
          </a:lstStyle>
          <a:p>
            <a:fld id="{F9128C69-EAC9-CF40-83A4-61714555DCD4}" type="datetimeFigureOut">
              <a:rPr lang="en-US" smtClean="0"/>
              <a:pPr/>
              <a:t>8/19/2020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charset="0"/>
              </a:defRPr>
            </a:lvl1pPr>
          </a:lstStyle>
          <a:p>
            <a:fld id="{F96C3898-AFF7-6245-8B5C-06211330E49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44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63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1pPr>
    <a:lvl2pPr marL="457182" algn="l" defTabSz="914363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2pPr>
    <a:lvl3pPr marL="914363" algn="l" defTabSz="914363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3pPr>
    <a:lvl4pPr marL="1371545" algn="l" defTabSz="914363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4pPr>
    <a:lvl5pPr marL="1828727" algn="l" defTabSz="914363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5pPr>
    <a:lvl6pPr marL="2285909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1496ED-DAD3-49D8-A5B8-65855099C004}" type="slidenum">
              <a:rPr lang="es-ES" altLang="es-ES" smtClean="0"/>
              <a:pPr>
                <a:defRPr/>
              </a:pPr>
              <a:t>1</a:t>
            </a:fld>
            <a:endParaRPr lang="es-ES" alt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942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1496ED-DAD3-49D8-A5B8-65855099C004}" type="slidenum">
              <a:rPr lang="es-ES" altLang="es-ES" smtClean="0"/>
              <a:pPr>
                <a:defRPr/>
              </a:pPr>
              <a:t>7</a:t>
            </a:fld>
            <a:endParaRPr lang="es-ES" alt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0125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18307" y="303199"/>
            <a:ext cx="11468893" cy="83602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l">
              <a:defRPr sz="3600" b="0" i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altLang="es-ES" dirty="0"/>
              <a:t>Haga clic para modificar el estilo de título del patrón</a:t>
            </a:r>
          </a:p>
        </p:txBody>
      </p:sp>
      <p:sp>
        <p:nvSpPr>
          <p:cNvPr id="5" name="2 Marcador de contenido"/>
          <p:cNvSpPr>
            <a:spLocks noGrp="1"/>
          </p:cNvSpPr>
          <p:nvPr>
            <p:ph sz="half" idx="12"/>
          </p:nvPr>
        </p:nvSpPr>
        <p:spPr>
          <a:xfrm>
            <a:off x="447614" y="1654519"/>
            <a:ext cx="11439586" cy="3381213"/>
          </a:xfrm>
          <a:prstGeom prst="rect">
            <a:avLst/>
          </a:prstGeom>
        </p:spPr>
        <p:txBody>
          <a:bodyPr/>
          <a:lstStyle>
            <a:lvl1pPr marL="342900" indent="-342900"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Clr>
                <a:schemeClr val="tx2"/>
              </a:buClr>
              <a:buFont typeface="Courier New" panose="02070309020205020404" pitchFamily="49" charset="0"/>
              <a:buChar char="o"/>
              <a:defRPr sz="1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tx2"/>
              </a:buClr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tx2"/>
              </a:buCl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</p:txBody>
      </p:sp>
      <p:sp>
        <p:nvSpPr>
          <p:cNvPr id="6" name="Rectangle 3"/>
          <p:cNvSpPr>
            <a:spLocks/>
          </p:cNvSpPr>
          <p:nvPr userDrawn="1"/>
        </p:nvSpPr>
        <p:spPr bwMode="auto">
          <a:xfrm>
            <a:off x="6027144" y="6352063"/>
            <a:ext cx="28052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9B6533E8-8C2A-0B47-9002-AA0AE2AB55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8815" y="6217773"/>
            <a:ext cx="1656171" cy="3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9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18307" y="303199"/>
            <a:ext cx="11468893" cy="83602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l">
              <a:defRPr sz="3600" b="0" i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altLang="es-ES" dirty="0"/>
              <a:t>Haga clic para modificar el estilo de título del patrón</a:t>
            </a:r>
          </a:p>
        </p:txBody>
      </p:sp>
      <p:sp>
        <p:nvSpPr>
          <p:cNvPr id="5" name="2 Marcador de contenido"/>
          <p:cNvSpPr>
            <a:spLocks noGrp="1"/>
          </p:cNvSpPr>
          <p:nvPr>
            <p:ph sz="half" idx="12"/>
          </p:nvPr>
        </p:nvSpPr>
        <p:spPr>
          <a:xfrm>
            <a:off x="447614" y="1654519"/>
            <a:ext cx="11439586" cy="3381213"/>
          </a:xfrm>
          <a:prstGeom prst="rect">
            <a:avLst/>
          </a:prstGeom>
        </p:spPr>
        <p:txBody>
          <a:bodyPr/>
          <a:lstStyle>
            <a:lvl1pPr marL="342900" indent="-342900"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Clr>
                <a:schemeClr val="tx2"/>
              </a:buClr>
              <a:buFont typeface="Courier New" panose="02070309020205020404" pitchFamily="49" charset="0"/>
              <a:buChar char="o"/>
              <a:defRPr sz="1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tx2"/>
              </a:buClr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tx2"/>
              </a:buCl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E5F3C4A-47E4-2F44-B022-ED7C4D533E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8815" y="6217772"/>
            <a:ext cx="1656171" cy="371358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CCA1BD4D-1B39-4239-8863-F67B3B74AA86}"/>
              </a:ext>
            </a:extLst>
          </p:cNvPr>
          <p:cNvSpPr>
            <a:spLocks/>
          </p:cNvSpPr>
          <p:nvPr userDrawn="1"/>
        </p:nvSpPr>
        <p:spPr bwMode="auto">
          <a:xfrm>
            <a:off x="6027144" y="6343751"/>
            <a:ext cx="28052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51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/>
          <p:cNvSpPr>
            <a:spLocks noGrp="1"/>
          </p:cNvSpPr>
          <p:nvPr>
            <p:ph type="title"/>
          </p:nvPr>
        </p:nvSpPr>
        <p:spPr>
          <a:xfrm>
            <a:off x="418307" y="303199"/>
            <a:ext cx="11468893" cy="83602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es-ES" altLang="es-ES" sz="3600" b="0" i="0" kern="1200" baseline="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altLang="es-ES" dirty="0"/>
              <a:t>Haga clic para modificar el estilo de título del patrón</a:t>
            </a:r>
          </a:p>
        </p:txBody>
      </p:sp>
      <p:sp>
        <p:nvSpPr>
          <p:cNvPr id="7" name="2 Marcador de contenido"/>
          <p:cNvSpPr>
            <a:spLocks noGrp="1"/>
          </p:cNvSpPr>
          <p:nvPr>
            <p:ph sz="half" idx="12"/>
          </p:nvPr>
        </p:nvSpPr>
        <p:spPr>
          <a:xfrm>
            <a:off x="418307" y="1617346"/>
            <a:ext cx="5182393" cy="4418796"/>
          </a:xfrm>
          <a:prstGeom prst="rect">
            <a:avLst/>
          </a:prstGeom>
        </p:spPr>
        <p:txBody>
          <a:bodyPr/>
          <a:lstStyle>
            <a:lvl1pPr marL="342900" indent="-342900"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Clr>
                <a:schemeClr val="tx2"/>
              </a:buClr>
              <a:buFont typeface="Courier New" panose="02070309020205020404" pitchFamily="49" charset="0"/>
              <a:buChar char="o"/>
              <a:defRPr sz="1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tx2"/>
              </a:buClr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tx2"/>
              </a:buCl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sz="half" idx="13"/>
          </p:nvPr>
        </p:nvSpPr>
        <p:spPr>
          <a:xfrm>
            <a:off x="6099413" y="1617346"/>
            <a:ext cx="5182393" cy="4418796"/>
          </a:xfrm>
          <a:prstGeom prst="rect">
            <a:avLst/>
          </a:prstGeom>
        </p:spPr>
        <p:txBody>
          <a:bodyPr/>
          <a:lstStyle>
            <a:lvl1pPr marL="342900" indent="-342900"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Clr>
                <a:schemeClr val="tx2"/>
              </a:buClr>
              <a:buFont typeface="Courier New" panose="02070309020205020404" pitchFamily="49" charset="0"/>
              <a:buChar char="o"/>
              <a:defRPr sz="1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tx2"/>
              </a:buClr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tx2"/>
              </a:buCl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6FD857F3-E3CB-944B-B7F2-B72A7B51D7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8815" y="6212234"/>
            <a:ext cx="1656171" cy="371358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189BD603-02A4-4FE6-B380-CA9A2E9D427A}"/>
              </a:ext>
            </a:extLst>
          </p:cNvPr>
          <p:cNvSpPr>
            <a:spLocks/>
          </p:cNvSpPr>
          <p:nvPr userDrawn="1"/>
        </p:nvSpPr>
        <p:spPr bwMode="auto">
          <a:xfrm>
            <a:off x="6027144" y="6347133"/>
            <a:ext cx="28052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92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par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half" idx="12" hasCustomPrompt="1"/>
          </p:nvPr>
        </p:nvSpPr>
        <p:spPr>
          <a:xfrm>
            <a:off x="400500" y="1525379"/>
            <a:ext cx="11299075" cy="2953803"/>
          </a:xfrm>
          <a:prstGeom prst="rect">
            <a:avLst/>
          </a:prstGeom>
        </p:spPr>
        <p:txBody>
          <a:bodyPr lIns="121917" tIns="60958" rIns="121917" bIns="60958" anchor="ctr"/>
          <a:lstStyle>
            <a:lvl1pPr marL="0" indent="0" algn="ctr"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6000" b="0" i="0" kern="1200" spc="-100" baseline="0" dirty="0" smtClean="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6" name="Rectángulo 5"/>
          <p:cNvSpPr/>
          <p:nvPr userDrawn="1"/>
        </p:nvSpPr>
        <p:spPr>
          <a:xfrm>
            <a:off x="5113569" y="4432340"/>
            <a:ext cx="1934678" cy="1535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Arial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52C8077-A077-4F0B-8D2B-595FCCF8EB33}"/>
              </a:ext>
            </a:extLst>
          </p:cNvPr>
          <p:cNvSpPr>
            <a:spLocks/>
          </p:cNvSpPr>
          <p:nvPr userDrawn="1"/>
        </p:nvSpPr>
        <p:spPr bwMode="auto">
          <a:xfrm>
            <a:off x="6027144" y="6347137"/>
            <a:ext cx="28052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par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half" idx="12" hasCustomPrompt="1"/>
          </p:nvPr>
        </p:nvSpPr>
        <p:spPr>
          <a:xfrm>
            <a:off x="400500" y="1525379"/>
            <a:ext cx="11299075" cy="2953803"/>
          </a:xfrm>
          <a:prstGeom prst="rect">
            <a:avLst/>
          </a:prstGeom>
        </p:spPr>
        <p:txBody>
          <a:bodyPr lIns="121917" tIns="60958" rIns="121917" bIns="60958" anchor="ctr"/>
          <a:lstStyle>
            <a:lvl1pPr marL="0" indent="0" algn="ctr"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6000" b="0" i="0" kern="1200" spc="-100" baseline="0" dirty="0" smtClean="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6" name="Rectángulo 5"/>
          <p:cNvSpPr/>
          <p:nvPr userDrawn="1"/>
        </p:nvSpPr>
        <p:spPr>
          <a:xfrm>
            <a:off x="5113569" y="4432340"/>
            <a:ext cx="1934678" cy="1535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Arial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563C7D8-B321-4FBE-8E0A-D84FF1D2F23B}"/>
              </a:ext>
            </a:extLst>
          </p:cNvPr>
          <p:cNvSpPr>
            <a:spLocks/>
          </p:cNvSpPr>
          <p:nvPr userDrawn="1"/>
        </p:nvSpPr>
        <p:spPr bwMode="auto">
          <a:xfrm>
            <a:off x="6027144" y="6352062"/>
            <a:ext cx="28052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59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66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par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half" idx="12" hasCustomPrompt="1"/>
          </p:nvPr>
        </p:nvSpPr>
        <p:spPr>
          <a:xfrm>
            <a:off x="400500" y="1525379"/>
            <a:ext cx="11299075" cy="2953803"/>
          </a:xfrm>
          <a:prstGeom prst="rect">
            <a:avLst/>
          </a:prstGeom>
        </p:spPr>
        <p:txBody>
          <a:bodyPr lIns="121917" tIns="60958" rIns="121917" bIns="60958" anchor="ctr"/>
          <a:lstStyle>
            <a:lvl1pPr marL="0" indent="0" algn="ctr"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6000" b="0" i="0" kern="1200" spc="-100" baseline="0" dirty="0" smtClean="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6" name="Rectángulo 5"/>
          <p:cNvSpPr/>
          <p:nvPr userDrawn="1"/>
        </p:nvSpPr>
        <p:spPr>
          <a:xfrm>
            <a:off x="5113569" y="4432340"/>
            <a:ext cx="1934678" cy="1535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3C431E9-5444-4BAB-BBF2-F406D1F9BEC4}"/>
              </a:ext>
            </a:extLst>
          </p:cNvPr>
          <p:cNvSpPr>
            <a:spLocks/>
          </p:cNvSpPr>
          <p:nvPr userDrawn="1"/>
        </p:nvSpPr>
        <p:spPr bwMode="auto">
          <a:xfrm>
            <a:off x="6027144" y="6347136"/>
            <a:ext cx="28052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9B234B-653C-4B4A-AD79-0BC59408A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760" b="34440"/>
          <a:stretch/>
        </p:blipFill>
        <p:spPr>
          <a:xfrm>
            <a:off x="10789923" y="6308322"/>
            <a:ext cx="1034572" cy="3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8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par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half" idx="12" hasCustomPrompt="1"/>
          </p:nvPr>
        </p:nvSpPr>
        <p:spPr>
          <a:xfrm>
            <a:off x="400500" y="1525379"/>
            <a:ext cx="11299075" cy="2953803"/>
          </a:xfrm>
          <a:prstGeom prst="rect">
            <a:avLst/>
          </a:prstGeom>
        </p:spPr>
        <p:txBody>
          <a:bodyPr lIns="121917" tIns="60958" rIns="121917" bIns="60958" anchor="ctr"/>
          <a:lstStyle>
            <a:lvl1pPr marL="0" indent="0" algn="ctr"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6000" b="0" i="0" kern="1200" spc="-100" baseline="0" dirty="0" smtClean="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6" name="Rectángulo 5"/>
          <p:cNvSpPr/>
          <p:nvPr userDrawn="1"/>
        </p:nvSpPr>
        <p:spPr>
          <a:xfrm>
            <a:off x="5113569" y="4432340"/>
            <a:ext cx="1934678" cy="1535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67E101F-5C03-4626-BDEE-4650BE9272E5}"/>
              </a:ext>
            </a:extLst>
          </p:cNvPr>
          <p:cNvSpPr>
            <a:spLocks/>
          </p:cNvSpPr>
          <p:nvPr userDrawn="1"/>
        </p:nvSpPr>
        <p:spPr bwMode="auto">
          <a:xfrm>
            <a:off x="6027144" y="6347136"/>
            <a:ext cx="28052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D3305D-63B2-4612-8469-9771005744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760" b="34440"/>
          <a:stretch/>
        </p:blipFill>
        <p:spPr>
          <a:xfrm>
            <a:off x="10789923" y="6308322"/>
            <a:ext cx="1034572" cy="3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16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par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half" idx="12" hasCustomPrompt="1"/>
          </p:nvPr>
        </p:nvSpPr>
        <p:spPr>
          <a:xfrm>
            <a:off x="400500" y="1525379"/>
            <a:ext cx="11299075" cy="2953803"/>
          </a:xfrm>
          <a:prstGeom prst="rect">
            <a:avLst/>
          </a:prstGeom>
        </p:spPr>
        <p:txBody>
          <a:bodyPr lIns="121917" tIns="60958" rIns="121917" bIns="60958" anchor="ctr"/>
          <a:lstStyle>
            <a:lvl1pPr marL="0" indent="0" algn="ctr"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6000" b="0" i="0" kern="1200" spc="-100" baseline="0" dirty="0" smtClean="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3C431E9-5444-4BAB-BBF2-F406D1F9BEC4}"/>
              </a:ext>
            </a:extLst>
          </p:cNvPr>
          <p:cNvSpPr>
            <a:spLocks/>
          </p:cNvSpPr>
          <p:nvPr userDrawn="1"/>
        </p:nvSpPr>
        <p:spPr bwMode="auto">
          <a:xfrm>
            <a:off x="6027144" y="6347136"/>
            <a:ext cx="28052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9B234B-653C-4B4A-AD79-0BC59408A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760" b="34440"/>
          <a:stretch/>
        </p:blipFill>
        <p:spPr>
          <a:xfrm>
            <a:off x="10789923" y="6308322"/>
            <a:ext cx="1034572" cy="3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0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par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half" idx="12" hasCustomPrompt="1"/>
          </p:nvPr>
        </p:nvSpPr>
        <p:spPr>
          <a:xfrm>
            <a:off x="400500" y="1525379"/>
            <a:ext cx="11299075" cy="2953803"/>
          </a:xfrm>
          <a:prstGeom prst="rect">
            <a:avLst/>
          </a:prstGeom>
        </p:spPr>
        <p:txBody>
          <a:bodyPr lIns="121917" tIns="60958" rIns="121917" bIns="60958" anchor="ctr"/>
          <a:lstStyle>
            <a:lvl1pPr marL="0" indent="0" algn="ctr"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6000" b="0" i="0" kern="1200" spc="-100" baseline="0" dirty="0" smtClean="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6" name="Rectángulo 5"/>
          <p:cNvSpPr/>
          <p:nvPr userDrawn="1"/>
        </p:nvSpPr>
        <p:spPr>
          <a:xfrm>
            <a:off x="5113569" y="4432340"/>
            <a:ext cx="1934678" cy="1535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67E101F-5C03-4626-BDEE-4650BE9272E5}"/>
              </a:ext>
            </a:extLst>
          </p:cNvPr>
          <p:cNvSpPr>
            <a:spLocks/>
          </p:cNvSpPr>
          <p:nvPr userDrawn="1"/>
        </p:nvSpPr>
        <p:spPr bwMode="auto">
          <a:xfrm>
            <a:off x="6027144" y="6347136"/>
            <a:ext cx="28052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D3305D-63B2-4612-8469-9771005744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760" b="34440"/>
          <a:stretch/>
        </p:blipFill>
        <p:spPr>
          <a:xfrm>
            <a:off x="10789923" y="6308322"/>
            <a:ext cx="1034572" cy="3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30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EE32EAD6-424E-4A75-80F6-22D11820E58C}"/>
              </a:ext>
            </a:extLst>
          </p:cNvPr>
          <p:cNvSpPr txBox="1">
            <a:spLocks/>
          </p:cNvSpPr>
          <p:nvPr userDrawn="1"/>
        </p:nvSpPr>
        <p:spPr>
          <a:xfrm>
            <a:off x="537623" y="428953"/>
            <a:ext cx="1460995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altLang="es-ES" sz="3200" dirty="0">
                <a:solidFill>
                  <a:schemeClr val="tx1"/>
                </a:solidFill>
              </a:rPr>
              <a:t>AVISO</a:t>
            </a:r>
          </a:p>
          <a:p>
            <a:pPr defTabSz="914400" eaLnBrk="1" hangingPunct="1">
              <a:defRPr/>
            </a:pPr>
            <a:endParaRPr lang="es-ES" altLang="es-ES" dirty="0"/>
          </a:p>
          <a:p>
            <a:pPr defTabSz="914400"/>
            <a:r>
              <a:rPr lang="es-ES_tradnl" altLang="es-ES" dirty="0"/>
              <a:t> 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567DBD-2987-4902-AB12-2D0745E76D7A}"/>
              </a:ext>
            </a:extLst>
          </p:cNvPr>
          <p:cNvSpPr txBox="1">
            <a:spLocks/>
          </p:cNvSpPr>
          <p:nvPr userDrawn="1"/>
        </p:nvSpPr>
        <p:spPr>
          <a:xfrm>
            <a:off x="459244" y="1343803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altLang="es-ES" sz="1600" dirty="0">
                <a:solidFill>
                  <a:schemeClr val="tx1"/>
                </a:solidFill>
              </a:rPr>
              <a:t>Por razones de seguridad y protección de nuestra información corporativa es </a:t>
            </a:r>
            <a:r>
              <a:rPr lang="es-ES" altLang="es-ES" sz="1600" b="1" u="sng" dirty="0">
                <a:solidFill>
                  <a:schemeClr val="tx1"/>
                </a:solidFill>
              </a:rPr>
              <a:t>obligatorio</a:t>
            </a:r>
            <a:r>
              <a:rPr lang="es-ES" altLang="es-ES" sz="1600" dirty="0">
                <a:solidFill>
                  <a:schemeClr val="tx1"/>
                </a:solidFill>
              </a:rPr>
              <a:t> clasificar los documentos en:</a:t>
            </a:r>
          </a:p>
          <a:p>
            <a:pPr defTabSz="914400" eaLnBrk="1" hangingPunct="1">
              <a:defRPr/>
            </a:pPr>
            <a:endParaRPr lang="es-ES" altLang="es-ES" sz="1600" dirty="0">
              <a:solidFill>
                <a:schemeClr val="tx1"/>
              </a:solidFill>
            </a:endParaRPr>
          </a:p>
          <a:p>
            <a:pPr defTabSz="914400"/>
            <a:r>
              <a:rPr lang="es-ES_tradnl" altLang="es-ES" sz="1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A5D65DFD-DF50-43EB-ADD6-409A34419A0F}"/>
              </a:ext>
            </a:extLst>
          </p:cNvPr>
          <p:cNvSpPr txBox="1">
            <a:spLocks/>
          </p:cNvSpPr>
          <p:nvPr userDrawn="1"/>
        </p:nvSpPr>
        <p:spPr>
          <a:xfrm>
            <a:off x="459244" y="1878131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altLang="es-ES" sz="1600" b="1" dirty="0">
                <a:solidFill>
                  <a:schemeClr val="bg2"/>
                </a:solidFill>
              </a:rPr>
              <a:t>USO INTERNO</a:t>
            </a:r>
          </a:p>
          <a:p>
            <a:pPr defTabSz="914400" eaLnBrk="1" hangingPunct="1">
              <a:defRPr/>
            </a:pPr>
            <a:endParaRPr lang="es-ES" altLang="es-ES" sz="1600" dirty="0"/>
          </a:p>
          <a:p>
            <a:pPr defTabSz="914400"/>
            <a:r>
              <a:rPr lang="es-ES_tradnl" altLang="es-ES" sz="1600" dirty="0"/>
              <a:t> </a:t>
            </a:r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64D26EB1-A03D-44D4-BA8B-03F452795FA0}"/>
              </a:ext>
            </a:extLst>
          </p:cNvPr>
          <p:cNvSpPr txBox="1">
            <a:spLocks/>
          </p:cNvSpPr>
          <p:nvPr userDrawn="1"/>
        </p:nvSpPr>
        <p:spPr>
          <a:xfrm>
            <a:off x="459244" y="2968732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altLang="es-ES" sz="1600" b="1" dirty="0">
                <a:solidFill>
                  <a:schemeClr val="bg2"/>
                </a:solidFill>
              </a:rPr>
              <a:t>USO INTERNO RESTRINGIDO</a:t>
            </a:r>
          </a:p>
          <a:p>
            <a:pPr defTabSz="914400" eaLnBrk="1" hangingPunct="1">
              <a:defRPr/>
            </a:pPr>
            <a:endParaRPr lang="es-ES" altLang="es-ES" sz="1600" dirty="0"/>
          </a:p>
          <a:p>
            <a:pPr defTabSz="914400"/>
            <a:r>
              <a:rPr lang="es-ES_tradnl" altLang="es-ES" sz="1600" dirty="0"/>
              <a:t> </a:t>
            </a:r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C671B499-B172-408A-8861-122F67BDAEB6}"/>
              </a:ext>
            </a:extLst>
          </p:cNvPr>
          <p:cNvSpPr txBox="1">
            <a:spLocks/>
          </p:cNvSpPr>
          <p:nvPr userDrawn="1"/>
        </p:nvSpPr>
        <p:spPr>
          <a:xfrm>
            <a:off x="459244" y="4001378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altLang="es-ES" sz="1600" b="1" dirty="0">
                <a:solidFill>
                  <a:schemeClr val="bg2"/>
                </a:solidFill>
              </a:rPr>
              <a:t>USO INTERNO RESERVADO</a:t>
            </a:r>
          </a:p>
          <a:p>
            <a:pPr defTabSz="914400" eaLnBrk="1" hangingPunct="1">
              <a:defRPr/>
            </a:pPr>
            <a:endParaRPr lang="es-ES" altLang="es-ES" sz="1600" dirty="0"/>
          </a:p>
          <a:p>
            <a:pPr defTabSz="914400"/>
            <a:r>
              <a:rPr lang="es-ES_tradnl" altLang="es-ES" sz="1600" dirty="0"/>
              <a:t> 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A21FD887-52D4-4A34-B5AE-8D406B198E52}"/>
              </a:ext>
            </a:extLst>
          </p:cNvPr>
          <p:cNvSpPr txBox="1">
            <a:spLocks/>
          </p:cNvSpPr>
          <p:nvPr userDrawn="1"/>
        </p:nvSpPr>
        <p:spPr>
          <a:xfrm>
            <a:off x="459244" y="5268214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altLang="es-ES" sz="1600" dirty="0">
                <a:solidFill>
                  <a:schemeClr val="tx1"/>
                </a:solidFill>
              </a:rPr>
              <a:t>Por favor, rellene el uso que considere en el espacio reservado dentro de la presentación como “</a:t>
            </a:r>
            <a:r>
              <a:rPr lang="es-ES" altLang="es-ES" sz="1600" i="1" dirty="0">
                <a:solidFill>
                  <a:schemeClr val="tx1"/>
                </a:solidFill>
              </a:rPr>
              <a:t>inserte tipo uso seguridad</a:t>
            </a:r>
            <a:r>
              <a:rPr lang="es-ES" altLang="es-ES" sz="1600" dirty="0">
                <a:solidFill>
                  <a:schemeClr val="tx1"/>
                </a:solidFill>
              </a:rPr>
              <a:t>” ubicado en la parte inferior derecha de la diapositiva. </a:t>
            </a:r>
          </a:p>
          <a:p>
            <a:pPr defTabSz="914400" eaLnBrk="1" hangingPunct="1">
              <a:lnSpc>
                <a:spcPct val="150000"/>
              </a:lnSpc>
              <a:defRPr/>
            </a:pPr>
            <a:r>
              <a:rPr lang="es-ES" altLang="es-ES" sz="1600" dirty="0">
                <a:solidFill>
                  <a:schemeClr val="tx1"/>
                </a:solidFill>
              </a:rPr>
              <a:t>Todas las diapositivas deberán de ir clasificadas incluida la portada, índices, etc.</a:t>
            </a:r>
          </a:p>
          <a:p>
            <a:pPr defTabSz="914400"/>
            <a:r>
              <a:rPr lang="es-ES_tradnl" altLang="es-ES" sz="1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BFE9BE-8157-43B2-A362-56FD6BEEE68A}"/>
              </a:ext>
            </a:extLst>
          </p:cNvPr>
          <p:cNvSpPr/>
          <p:nvPr userDrawn="1"/>
        </p:nvSpPr>
        <p:spPr>
          <a:xfrm>
            <a:off x="511496" y="420639"/>
            <a:ext cx="1487122" cy="59703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contenido 3">
            <a:extLst>
              <a:ext uri="{FF2B5EF4-FFF2-40B4-BE49-F238E27FC236}">
                <a16:creationId xmlns:a16="http://schemas.microsoft.com/office/drawing/2014/main" id="{C35B4A75-3350-49D5-8771-96DE3A85458F}"/>
              </a:ext>
            </a:extLst>
          </p:cNvPr>
          <p:cNvSpPr txBox="1">
            <a:spLocks/>
          </p:cNvSpPr>
          <p:nvPr userDrawn="1"/>
        </p:nvSpPr>
        <p:spPr>
          <a:xfrm>
            <a:off x="459244" y="2210266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sz="16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Por defecto la información que manejamos como empleados es de uso interno, debe mantenerse en el ámbito interno de la empresa salvo que se comparta con proveedores o 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partners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previo compromiso de confidencialidad.</a:t>
            </a:r>
            <a:endParaRPr lang="es-ES_tradnl" altLang="es-ES" sz="2000" dirty="0">
              <a:solidFill>
                <a:schemeClr val="tx1"/>
              </a:solidFill>
            </a:endParaRPr>
          </a:p>
        </p:txBody>
      </p:sp>
      <p:sp>
        <p:nvSpPr>
          <p:cNvPr id="11" name="Marcador de contenido 3">
            <a:extLst>
              <a:ext uri="{FF2B5EF4-FFF2-40B4-BE49-F238E27FC236}">
                <a16:creationId xmlns:a16="http://schemas.microsoft.com/office/drawing/2014/main" id="{3B30CE0F-7767-4830-AC06-E7223F3694F3}"/>
              </a:ext>
            </a:extLst>
          </p:cNvPr>
          <p:cNvSpPr txBox="1">
            <a:spLocks/>
          </p:cNvSpPr>
          <p:nvPr userDrawn="1"/>
        </p:nvSpPr>
        <p:spPr>
          <a:xfrm>
            <a:off x="459244" y="3312126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sz="16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Información sensible que NO puede ser accesible por toda la empresa, sino sólo por un departamento concreto, un comité o los miembros de un proyecto.</a:t>
            </a:r>
            <a:r>
              <a:rPr lang="es-ES_tradnl" altLang="es-ES" sz="1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249F3756-0D09-450D-A7D5-73A104E610C0}"/>
              </a:ext>
            </a:extLst>
          </p:cNvPr>
          <p:cNvSpPr txBox="1">
            <a:spLocks/>
          </p:cNvSpPr>
          <p:nvPr userDrawn="1"/>
        </p:nvSpPr>
        <p:spPr>
          <a:xfrm>
            <a:off x="459244" y="4303149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sz="1600" b="0" u="non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nformación muy sensible (estrategia, datos financieros, oportunidades de negocio…) que únicamente es accesible por personas designadas nominalmente.</a:t>
            </a:r>
            <a:endParaRPr lang="es-ES" altLang="es-ES" sz="1600" dirty="0">
              <a:solidFill>
                <a:schemeClr val="tx1"/>
              </a:solidFill>
            </a:endParaRPr>
          </a:p>
          <a:p>
            <a:pPr defTabSz="914400"/>
            <a:r>
              <a:rPr lang="es-ES_tradnl" altLang="es-ES" sz="16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3783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26767441-5625-41E9-8937-F09E3F5609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760" b="34440"/>
          <a:stretch/>
        </p:blipFill>
        <p:spPr>
          <a:xfrm>
            <a:off x="10789923" y="6308322"/>
            <a:ext cx="1034572" cy="3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21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A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 Marcador de contenido"/>
          <p:cNvSpPr>
            <a:spLocks noGrp="1"/>
          </p:cNvSpPr>
          <p:nvPr>
            <p:ph sz="half" idx="12" hasCustomPrompt="1"/>
          </p:nvPr>
        </p:nvSpPr>
        <p:spPr>
          <a:xfrm>
            <a:off x="431369" y="1707054"/>
            <a:ext cx="6883832" cy="2964500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>
              <a:lnSpc>
                <a:spcPts val="6920"/>
              </a:lnSpc>
              <a:spcBef>
                <a:spcPts val="1200"/>
              </a:spcBef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6000" b="0" i="0" kern="1200" spc="-10" baseline="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0" name="2 Marcador de contenido"/>
          <p:cNvSpPr>
            <a:spLocks noGrp="1"/>
          </p:cNvSpPr>
          <p:nvPr>
            <p:ph sz="half" idx="13" hasCustomPrompt="1"/>
          </p:nvPr>
        </p:nvSpPr>
        <p:spPr>
          <a:xfrm>
            <a:off x="431369" y="5199806"/>
            <a:ext cx="7510849" cy="602916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1800" b="0" i="0" kern="1200" spc="-10" baseline="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6" name="Picture 5" descr="AF_TBS_Logo_ENG_RGB_POS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540"/>
          <a:stretch/>
        </p:blipFill>
        <p:spPr>
          <a:xfrm>
            <a:off x="451312" y="349644"/>
            <a:ext cx="2030632" cy="52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4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63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licacio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993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910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vmlDrawing" Target="../drawings/vmlDrawing1.vml"/><Relationship Id="rId4" Type="http://schemas.openxmlformats.org/officeDocument/2006/relationships/theme" Target="../theme/theme1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ags" Target="../tags/tag3.xml"/><Relationship Id="rId5" Type="http://schemas.openxmlformats.org/officeDocument/2006/relationships/vmlDrawing" Target="../drawings/vmlDrawing2.vml"/><Relationship Id="rId10" Type="http://schemas.openxmlformats.org/officeDocument/2006/relationships/image" Target="../media/image3.png"/><Relationship Id="rId4" Type="http://schemas.openxmlformats.org/officeDocument/2006/relationships/theme" Target="../theme/theme2.xml"/><Relationship Id="rId9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tags" Target="../tags/tag4.xml"/><Relationship Id="rId4" Type="http://schemas.openxmlformats.org/officeDocument/2006/relationships/vmlDrawing" Target="../drawings/vmlDrawing3.v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4.bin"/><Relationship Id="rId5" Type="http://schemas.openxmlformats.org/officeDocument/2006/relationships/tags" Target="../tags/tag5.xml"/><Relationship Id="rId4" Type="http://schemas.openxmlformats.org/officeDocument/2006/relationships/vmlDrawing" Target="../drawings/vmlDrawing4.v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5.v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tags" Target="../tags/tag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vmlDrawing" Target="../drawings/vmlDrawing6.vml"/><Relationship Id="rId7" Type="http://schemas.openxmlformats.org/officeDocument/2006/relationships/image" Target="../media/image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tags" Target="../tags/tag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15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ags" Target="../tags/tag8.xml"/><Relationship Id="rId5" Type="http://schemas.openxmlformats.org/officeDocument/2006/relationships/vmlDrawing" Target="../drawings/vmlDrawing7.vml"/><Relationship Id="rId4" Type="http://schemas.openxmlformats.org/officeDocument/2006/relationships/theme" Target="../theme/theme7.xml"/><Relationship Id="rId9" Type="http://schemas.openxmlformats.org/officeDocument/2006/relationships/image" Target="../media/image3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8.vml"/><Relationship Id="rId7" Type="http://schemas.openxmlformats.org/officeDocument/2006/relationships/image" Target="../media/image4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3861176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Diapositiva de think-cell" r:id="rId7" imgW="425" imgH="426" progId="TCLayout.ActiveDocument.1">
                  <p:embed/>
                </p:oleObj>
              </mc:Choice>
              <mc:Fallback>
                <p:oleObj name="Diapositiva de think-cell" r:id="rId7" imgW="425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 userDrawn="1"/>
        </p:nvSpPr>
        <p:spPr bwMode="auto">
          <a:xfrm>
            <a:off x="1274918" y="1537516"/>
            <a:ext cx="2462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_tradnl" sz="2400" b="0" i="0" dirty="0" err="1">
              <a:solidFill>
                <a:srgbClr val="FFFFFF"/>
              </a:solidFill>
              <a:latin typeface="Arial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DFDDB972-3663-496D-B232-87241E62B4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r="39760" b="34440"/>
          <a:stretch/>
        </p:blipFill>
        <p:spPr>
          <a:xfrm>
            <a:off x="10780686" y="6317746"/>
            <a:ext cx="1034572" cy="3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9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39" r:id="rId2"/>
    <p:sldLayoutId id="2147483703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826675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Diapositiva de think-cell" r:id="rId7" imgW="425" imgH="426" progId="TCLayout.ActiveDocument.1">
                  <p:embed/>
                </p:oleObj>
              </mc:Choice>
              <mc:Fallback>
                <p:oleObj name="Diapositiva de think-cell" r:id="rId7" imgW="425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 userDrawn="1"/>
        </p:nvSpPr>
        <p:spPr bwMode="auto">
          <a:xfrm>
            <a:off x="1274918" y="1537516"/>
            <a:ext cx="2462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_tradnl" sz="2400" b="0" i="0" dirty="0" err="1">
              <a:solidFill>
                <a:srgbClr val="FFFFFF"/>
              </a:solidFill>
              <a:latin typeface="Arial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A9F2D5A9-79EE-47BB-8F67-93C838AFBD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r="39760" b="34440"/>
          <a:stretch/>
        </p:blipFill>
        <p:spPr>
          <a:xfrm>
            <a:off x="10789923" y="6308322"/>
            <a:ext cx="1034572" cy="329408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FF9CB5C4-6965-40DA-8A6C-942E4E5F132F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18815" y="6209459"/>
            <a:ext cx="1656171" cy="3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7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40" r:id="rId2"/>
    <p:sldLayoutId id="2147483745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8661639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Diapositiva de think-cell" r:id="rId6" imgW="425" imgH="426" progId="TCLayout.ActiveDocument.1">
                  <p:embed/>
                </p:oleObj>
              </mc:Choice>
              <mc:Fallback>
                <p:oleObj name="Diapositiva de think-cell" r:id="rId6" imgW="425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 userDrawn="1"/>
        </p:nvSpPr>
        <p:spPr bwMode="auto">
          <a:xfrm>
            <a:off x="1274918" y="1537516"/>
            <a:ext cx="2462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_tradnl" sz="2400" b="0" i="0" dirty="0" err="1">
              <a:solidFill>
                <a:srgbClr val="FFFFFF"/>
              </a:solidFill>
              <a:latin typeface="Arial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ADB65-7341-48C8-A87E-29ECEEA7661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18815" y="6209459"/>
            <a:ext cx="1656171" cy="3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5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0367398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Diapositiva de think-cell" r:id="rId6" imgW="425" imgH="426" progId="TCLayout.ActiveDocument.1">
                  <p:embed/>
                </p:oleObj>
              </mc:Choice>
              <mc:Fallback>
                <p:oleObj name="Diapositiva de think-cell" r:id="rId6" imgW="425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 userDrawn="1"/>
        </p:nvSpPr>
        <p:spPr bwMode="auto">
          <a:xfrm>
            <a:off x="1274918" y="1537516"/>
            <a:ext cx="2462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_tradnl" sz="2400" b="0" i="0" dirty="0" err="1">
              <a:solidFill>
                <a:srgbClr val="FFFFFF"/>
              </a:solidFill>
              <a:latin typeface="Arial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05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252226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Diapositiva de think-cell" r:id="rId5" imgW="425" imgH="426" progId="TCLayout.ActiveDocument.1">
                  <p:embed/>
                </p:oleObj>
              </mc:Choice>
              <mc:Fallback>
                <p:oleObj name="Diapositiva de think-cell" r:id="rId5" imgW="425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 userDrawn="1"/>
        </p:nvSpPr>
        <p:spPr bwMode="auto">
          <a:xfrm>
            <a:off x="1274918" y="1537516"/>
            <a:ext cx="2462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_tradnl" sz="2400" b="0" i="0" dirty="0" err="1">
              <a:solidFill>
                <a:srgbClr val="FFFFFF"/>
              </a:solidFill>
              <a:latin typeface="Arial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72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40161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Diapositiva de think-cell" r:id="rId5" imgW="425" imgH="426" progId="TCLayout.ActiveDocument.1">
                  <p:embed/>
                </p:oleObj>
              </mc:Choice>
              <mc:Fallback>
                <p:oleObj name="Diapositiva de think-cell" r:id="rId5" imgW="425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 userDrawn="1"/>
        </p:nvSpPr>
        <p:spPr bwMode="auto">
          <a:xfrm>
            <a:off x="1274918" y="1537516"/>
            <a:ext cx="2462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_tradnl" sz="2400" b="0" i="0" dirty="0" err="1">
              <a:solidFill>
                <a:srgbClr val="FFFFFF"/>
              </a:solidFill>
              <a:latin typeface="Arial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674FA1F3-9AD9-40CD-81CE-5921CE922F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r="39760" b="34440"/>
          <a:stretch/>
        </p:blipFill>
        <p:spPr>
          <a:xfrm>
            <a:off x="10789923" y="6308322"/>
            <a:ext cx="1034572" cy="329408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F494BE11-C1E0-467C-B15D-4E3FEF7D55C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18815" y="6209459"/>
            <a:ext cx="1656171" cy="3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5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472035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Diapositiva de think-cell" r:id="rId7" imgW="425" imgH="426" progId="TCLayout.ActiveDocument.1">
                  <p:embed/>
                </p:oleObj>
              </mc:Choice>
              <mc:Fallback>
                <p:oleObj name="Diapositiva de think-cell" r:id="rId7" imgW="425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 userDrawn="1"/>
        </p:nvSpPr>
        <p:spPr bwMode="auto">
          <a:xfrm>
            <a:off x="1274918" y="1537516"/>
            <a:ext cx="2462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_tradnl" sz="2400" b="0" i="0" dirty="0" err="1">
              <a:solidFill>
                <a:srgbClr val="FFFFFF"/>
              </a:solidFill>
              <a:latin typeface="Arial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CE4B2E4-0F82-46EE-81F8-CEC249E5EF9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18815" y="6220701"/>
            <a:ext cx="1656171" cy="3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12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4" r:id="rId2"/>
    <p:sldLayoutId id="2147483754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4002079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Diapositiva de think-cell" r:id="rId5" imgW="425" imgH="426" progId="TCLayout.ActiveDocument.1">
                  <p:embed/>
                </p:oleObj>
              </mc:Choice>
              <mc:Fallback>
                <p:oleObj name="Diapositiva de think-cell" r:id="rId5" imgW="425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AF_TBS_Logo_ENG_RGB_POS.png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96"/>
          <a:stretch/>
        </p:blipFill>
        <p:spPr>
          <a:xfrm>
            <a:off x="4468525" y="2997200"/>
            <a:ext cx="325495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7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9" Type="http://schemas.openxmlformats.org/officeDocument/2006/relationships/tags" Target="../tags/tag47.xml"/><Relationship Id="rId21" Type="http://schemas.openxmlformats.org/officeDocument/2006/relationships/tags" Target="../tags/tag29.xml"/><Relationship Id="rId34" Type="http://schemas.openxmlformats.org/officeDocument/2006/relationships/tags" Target="../tags/tag42.xml"/><Relationship Id="rId42" Type="http://schemas.openxmlformats.org/officeDocument/2006/relationships/tags" Target="../tags/tag50.xml"/><Relationship Id="rId47" Type="http://schemas.openxmlformats.org/officeDocument/2006/relationships/tags" Target="../tags/tag55.xml"/><Relationship Id="rId50" Type="http://schemas.openxmlformats.org/officeDocument/2006/relationships/tags" Target="../tags/tag58.xml"/><Relationship Id="rId55" Type="http://schemas.openxmlformats.org/officeDocument/2006/relationships/tags" Target="../tags/tag63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9" Type="http://schemas.openxmlformats.org/officeDocument/2006/relationships/tags" Target="../tags/tag37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tags" Target="../tags/tag40.xml"/><Relationship Id="rId37" Type="http://schemas.openxmlformats.org/officeDocument/2006/relationships/tags" Target="../tags/tag45.xml"/><Relationship Id="rId40" Type="http://schemas.openxmlformats.org/officeDocument/2006/relationships/tags" Target="../tags/tag48.xml"/><Relationship Id="rId45" Type="http://schemas.openxmlformats.org/officeDocument/2006/relationships/tags" Target="../tags/tag53.xml"/><Relationship Id="rId53" Type="http://schemas.openxmlformats.org/officeDocument/2006/relationships/tags" Target="../tags/tag61.xml"/><Relationship Id="rId58" Type="http://schemas.openxmlformats.org/officeDocument/2006/relationships/slideLayout" Target="../slideLayouts/slideLayout3.xml"/><Relationship Id="rId5" Type="http://schemas.openxmlformats.org/officeDocument/2006/relationships/tags" Target="../tags/tag13.xml"/><Relationship Id="rId19" Type="http://schemas.openxmlformats.org/officeDocument/2006/relationships/tags" Target="../tags/tag27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35" Type="http://schemas.openxmlformats.org/officeDocument/2006/relationships/tags" Target="../tags/tag43.xml"/><Relationship Id="rId43" Type="http://schemas.openxmlformats.org/officeDocument/2006/relationships/tags" Target="../tags/tag51.xml"/><Relationship Id="rId48" Type="http://schemas.openxmlformats.org/officeDocument/2006/relationships/tags" Target="../tags/tag56.xml"/><Relationship Id="rId56" Type="http://schemas.openxmlformats.org/officeDocument/2006/relationships/tags" Target="../tags/tag64.xml"/><Relationship Id="rId8" Type="http://schemas.openxmlformats.org/officeDocument/2006/relationships/tags" Target="../tags/tag16.xml"/><Relationship Id="rId51" Type="http://schemas.openxmlformats.org/officeDocument/2006/relationships/tags" Target="../tags/tag59.xml"/><Relationship Id="rId3" Type="http://schemas.openxmlformats.org/officeDocument/2006/relationships/tags" Target="../tags/tag11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tags" Target="../tags/tag41.xml"/><Relationship Id="rId38" Type="http://schemas.openxmlformats.org/officeDocument/2006/relationships/tags" Target="../tags/tag46.xml"/><Relationship Id="rId46" Type="http://schemas.openxmlformats.org/officeDocument/2006/relationships/tags" Target="../tags/tag54.xml"/><Relationship Id="rId59" Type="http://schemas.openxmlformats.org/officeDocument/2006/relationships/oleObject" Target="../embeddings/oleObject9.bin"/><Relationship Id="rId20" Type="http://schemas.openxmlformats.org/officeDocument/2006/relationships/tags" Target="../tags/tag28.xml"/><Relationship Id="rId41" Type="http://schemas.openxmlformats.org/officeDocument/2006/relationships/tags" Target="../tags/tag49.xml"/><Relationship Id="rId54" Type="http://schemas.openxmlformats.org/officeDocument/2006/relationships/tags" Target="../tags/tag62.xml"/><Relationship Id="rId1" Type="http://schemas.openxmlformats.org/officeDocument/2006/relationships/vmlDrawing" Target="../drawings/vmlDrawing9.vml"/><Relationship Id="rId6" Type="http://schemas.openxmlformats.org/officeDocument/2006/relationships/tags" Target="../tags/tag14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36" Type="http://schemas.openxmlformats.org/officeDocument/2006/relationships/tags" Target="../tags/tag44.xml"/><Relationship Id="rId49" Type="http://schemas.openxmlformats.org/officeDocument/2006/relationships/tags" Target="../tags/tag57.xml"/><Relationship Id="rId57" Type="http://schemas.openxmlformats.org/officeDocument/2006/relationships/tags" Target="../tags/tag65.xml"/><Relationship Id="rId10" Type="http://schemas.openxmlformats.org/officeDocument/2006/relationships/tags" Target="../tags/tag18.xml"/><Relationship Id="rId31" Type="http://schemas.openxmlformats.org/officeDocument/2006/relationships/tags" Target="../tags/tag39.xml"/><Relationship Id="rId44" Type="http://schemas.openxmlformats.org/officeDocument/2006/relationships/tags" Target="../tags/tag52.xml"/><Relationship Id="rId52" Type="http://schemas.openxmlformats.org/officeDocument/2006/relationships/tags" Target="../tags/tag60.xml"/><Relationship Id="rId60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sz="half" idx="12"/>
          </p:nvPr>
        </p:nvSpPr>
        <p:spPr>
          <a:xfrm>
            <a:off x="431368" y="1707054"/>
            <a:ext cx="7311343" cy="2964500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 smtClean="0"/>
              <a:t>MVS PLAY-IPTV</a:t>
            </a:r>
            <a:endParaRPr lang="es-ES" alt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13"/>
          </p:nvPr>
        </p:nvSpPr>
        <p:spPr>
          <a:xfrm>
            <a:off x="483621" y="4650431"/>
            <a:ext cx="7510849" cy="602916"/>
          </a:xfrm>
        </p:spPr>
        <p:txBody>
          <a:bodyPr/>
          <a:lstStyle/>
          <a:p>
            <a:pPr eaLnBrk="1" hangingPunct="1">
              <a:defRPr/>
            </a:pPr>
            <a:r>
              <a:rPr lang="es-ES" altLang="es-ES" dirty="0" smtClean="0"/>
              <a:t>Modelos de perfilamiento, segmentación y propensión</a:t>
            </a:r>
            <a:br>
              <a:rPr lang="es-ES" altLang="es-ES" dirty="0" smtClean="0"/>
            </a:br>
            <a:r>
              <a:rPr lang="es-ES" altLang="es-ES" dirty="0" smtClean="0"/>
              <a:t>Big Data Analytics</a:t>
            </a:r>
            <a:endParaRPr lang="es-ES" altLang="es-ES" dirty="0"/>
          </a:p>
          <a:p>
            <a:pPr eaLnBrk="1" hangingPunct="1">
              <a:defRPr/>
            </a:pPr>
            <a:endParaRPr lang="es-ES" altLang="es-ES" dirty="0"/>
          </a:p>
          <a:p>
            <a:endParaRPr lang="es-ES_tradnl" altLang="es-ES" dirty="0"/>
          </a:p>
        </p:txBody>
      </p:sp>
      <p:sp>
        <p:nvSpPr>
          <p:cNvPr id="6" name="Rectángulo 5"/>
          <p:cNvSpPr/>
          <p:nvPr/>
        </p:nvSpPr>
        <p:spPr>
          <a:xfrm>
            <a:off x="483621" y="4153989"/>
            <a:ext cx="1934678" cy="1535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Arial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9374675" y="6284913"/>
            <a:ext cx="4572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algn="l" eaLnBrk="1" hangingPunct="1"/>
            <a:r>
              <a:rPr lang="en-US" altLang="en-US" sz="1200" dirty="0" smtClean="0">
                <a:solidFill>
                  <a:schemeClr val="tx2"/>
                </a:solidFill>
                <a:cs typeface="Arial" panose="020B0604020202020204" pitchFamily="34" charset="0"/>
              </a:rPr>
              <a:t>Movistar Argentina I    30.07.2020</a:t>
            </a:r>
            <a:endParaRPr lang="en-US" altLang="en-US" sz="12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374B549A-F677-4C7F-B3FB-DB7E66FA6908}"/>
              </a:ext>
            </a:extLst>
          </p:cNvPr>
          <p:cNvSpPr txBox="1">
            <a:spLocks/>
          </p:cNvSpPr>
          <p:nvPr/>
        </p:nvSpPr>
        <p:spPr>
          <a:xfrm>
            <a:off x="9374675" y="274424"/>
            <a:ext cx="2512765" cy="587829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1800" b="0" i="0" kern="1200" spc="-10" baseline="0" dirty="0" smtClean="0">
                <a:solidFill>
                  <a:schemeClr val="bg1"/>
                </a:solidFill>
                <a:latin typeface="Telefonica ExtraLight" charset="0"/>
                <a:ea typeface="Telefonica ExtraLight" charset="0"/>
                <a:cs typeface="Telefonica ExtraLight" charset="0"/>
                <a:sym typeface="Gill Sans" charset="0"/>
              </a:defRPr>
            </a:lvl1pPr>
            <a:lvl2pPr marL="1066773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Arial" pitchFamily="34" charset="0"/>
              <a:buChar char="–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»"/>
              <a:defRPr sz="27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ES_tradnl" altLang="es-ES" sz="11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USO INTERNO RESERVADO</a:t>
            </a:r>
            <a:endParaRPr lang="en-US" altLang="es-ES" sz="1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212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 18"/>
          <p:cNvSpPr/>
          <p:nvPr/>
        </p:nvSpPr>
        <p:spPr>
          <a:xfrm rot="10800000">
            <a:off x="6727992" y="1392671"/>
            <a:ext cx="3686175" cy="571500"/>
          </a:xfrm>
          <a:custGeom>
            <a:avLst/>
            <a:gdLst>
              <a:gd name="connsiteX0" fmla="*/ 1425753 w 1425753"/>
              <a:gd name="connsiteY0" fmla="*/ 642675 h 642675"/>
              <a:gd name="connsiteX1" fmla="*/ 0 w 1425753"/>
              <a:gd name="connsiteY1" fmla="*/ 642675 h 642675"/>
              <a:gd name="connsiteX2" fmla="*/ 0 w 1425753"/>
              <a:gd name="connsiteY2" fmla="*/ 139201 h 642675"/>
              <a:gd name="connsiteX3" fmla="*/ 527765 w 1425753"/>
              <a:gd name="connsiteY3" fmla="*/ 139201 h 642675"/>
              <a:gd name="connsiteX4" fmla="*/ 707002 w 1425753"/>
              <a:gd name="connsiteY4" fmla="*/ 0 h 642675"/>
              <a:gd name="connsiteX5" fmla="*/ 897990 w 1425753"/>
              <a:gd name="connsiteY5" fmla="*/ 139201 h 642675"/>
              <a:gd name="connsiteX6" fmla="*/ 1425753 w 1425753"/>
              <a:gd name="connsiteY6" fmla="*/ 139201 h 64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5753" h="642675">
                <a:moveTo>
                  <a:pt x="1425753" y="642675"/>
                </a:moveTo>
                <a:lnTo>
                  <a:pt x="0" y="642675"/>
                </a:lnTo>
                <a:lnTo>
                  <a:pt x="0" y="139201"/>
                </a:lnTo>
                <a:lnTo>
                  <a:pt x="527765" y="139201"/>
                </a:lnTo>
                <a:lnTo>
                  <a:pt x="707002" y="0"/>
                </a:lnTo>
                <a:lnTo>
                  <a:pt x="897990" y="139201"/>
                </a:lnTo>
                <a:lnTo>
                  <a:pt x="1425753" y="1392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_tradnl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0" name="Forma libre 19"/>
          <p:cNvSpPr/>
          <p:nvPr/>
        </p:nvSpPr>
        <p:spPr>
          <a:xfrm rot="10800000">
            <a:off x="1032041" y="1392672"/>
            <a:ext cx="3676649" cy="571500"/>
          </a:xfrm>
          <a:custGeom>
            <a:avLst/>
            <a:gdLst>
              <a:gd name="connsiteX0" fmla="*/ 1425753 w 1425753"/>
              <a:gd name="connsiteY0" fmla="*/ 642675 h 642675"/>
              <a:gd name="connsiteX1" fmla="*/ 0 w 1425753"/>
              <a:gd name="connsiteY1" fmla="*/ 642675 h 642675"/>
              <a:gd name="connsiteX2" fmla="*/ 0 w 1425753"/>
              <a:gd name="connsiteY2" fmla="*/ 139201 h 642675"/>
              <a:gd name="connsiteX3" fmla="*/ 527765 w 1425753"/>
              <a:gd name="connsiteY3" fmla="*/ 139201 h 642675"/>
              <a:gd name="connsiteX4" fmla="*/ 707002 w 1425753"/>
              <a:gd name="connsiteY4" fmla="*/ 0 h 642675"/>
              <a:gd name="connsiteX5" fmla="*/ 897990 w 1425753"/>
              <a:gd name="connsiteY5" fmla="*/ 139201 h 642675"/>
              <a:gd name="connsiteX6" fmla="*/ 1425753 w 1425753"/>
              <a:gd name="connsiteY6" fmla="*/ 139201 h 64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5753" h="642675">
                <a:moveTo>
                  <a:pt x="1425753" y="642675"/>
                </a:moveTo>
                <a:lnTo>
                  <a:pt x="0" y="642675"/>
                </a:lnTo>
                <a:lnTo>
                  <a:pt x="0" y="139201"/>
                </a:lnTo>
                <a:lnTo>
                  <a:pt x="527765" y="139201"/>
                </a:lnTo>
                <a:lnTo>
                  <a:pt x="707002" y="0"/>
                </a:lnTo>
                <a:lnTo>
                  <a:pt x="897990" y="139201"/>
                </a:lnTo>
                <a:lnTo>
                  <a:pt x="1425753" y="13920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_tradnl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461" name="Rectangle 38"/>
          <p:cNvSpPr>
            <a:spLocks/>
          </p:cNvSpPr>
          <p:nvPr/>
        </p:nvSpPr>
        <p:spPr bwMode="auto">
          <a:xfrm>
            <a:off x="2131595" y="1480513"/>
            <a:ext cx="15791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algn="ctr" eaLnBrk="1" hangingPunct="1"/>
            <a:r>
              <a:rPr lang="en-US" altLang="es-ES" sz="2000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CAPTACION </a:t>
            </a:r>
            <a:endParaRPr lang="en-US" altLang="es-ES" sz="2000" b="1" dirty="0">
              <a:solidFill>
                <a:srgbClr val="FFFFFF"/>
              </a:solidFill>
              <a:cs typeface="Arial" panose="020B0604020202020204" pitchFamily="34" charset="0"/>
              <a:sym typeface="Verdana Bold"/>
            </a:endParaRPr>
          </a:p>
        </p:txBody>
      </p:sp>
      <p:sp>
        <p:nvSpPr>
          <p:cNvPr id="19462" name="Text Box 5"/>
          <p:cNvSpPr txBox="1">
            <a:spLocks/>
          </p:cNvSpPr>
          <p:nvPr/>
        </p:nvSpPr>
        <p:spPr bwMode="auto">
          <a:xfrm>
            <a:off x="6265502" y="2113396"/>
            <a:ext cx="470323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3050" indent="-2730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1800" dirty="0"/>
              <a:t>Modelo de Asignación de Géneros: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AR" sz="1800" dirty="0"/>
              <a:t>Trafico de contenidos + catalogo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AR" sz="1800" dirty="0"/>
              <a:t>Impacto en: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AR" sz="1800" dirty="0"/>
              <a:t>Explore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AR" sz="1800" dirty="0"/>
              <a:t>Impacto en Red (en proceso)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AR" sz="1800" dirty="0"/>
              <a:t>Cambios de grilla (en proceso)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1800" dirty="0"/>
              <a:t>Asignación de clúster por consumo de contenido: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AR" sz="1800" dirty="0"/>
              <a:t>Medición de KPIS de uso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AR" sz="1800" dirty="0"/>
              <a:t>Impacto en: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AR" sz="1800" dirty="0"/>
              <a:t>Impacto en Red (en proceso)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AR" sz="1800" dirty="0"/>
              <a:t>Cambios de grilla (en proceso</a:t>
            </a:r>
          </a:p>
        </p:txBody>
      </p:sp>
      <p:sp>
        <p:nvSpPr>
          <p:cNvPr id="19463" name="Rectangle 38"/>
          <p:cNvSpPr>
            <a:spLocks/>
          </p:cNvSpPr>
          <p:nvPr/>
        </p:nvSpPr>
        <p:spPr bwMode="auto">
          <a:xfrm>
            <a:off x="8306136" y="1480513"/>
            <a:ext cx="6219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algn="ctr" eaLnBrk="1" hangingPunct="1"/>
            <a:r>
              <a:rPr lang="en-US" altLang="es-ES" sz="2000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USO</a:t>
            </a:r>
            <a:r>
              <a:rPr lang="en-US" altLang="es-ES" sz="1867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 </a:t>
            </a:r>
            <a:endParaRPr lang="en-US" altLang="es-ES" sz="1867" b="1" dirty="0">
              <a:solidFill>
                <a:srgbClr val="FFFFFF"/>
              </a:solidFill>
              <a:cs typeface="Arial" panose="020B0604020202020204" pitchFamily="34" charset="0"/>
              <a:sym typeface="Verdana Bold"/>
            </a:endParaRPr>
          </a:p>
        </p:txBody>
      </p:sp>
      <p:sp>
        <p:nvSpPr>
          <p:cNvPr id="13" name="Text Box 5"/>
          <p:cNvSpPr txBox="1">
            <a:spLocks/>
          </p:cNvSpPr>
          <p:nvPr/>
        </p:nvSpPr>
        <p:spPr bwMode="auto">
          <a:xfrm>
            <a:off x="635591" y="2113395"/>
            <a:ext cx="470323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3050" indent="-2730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1800" dirty="0"/>
              <a:t>Modelo de Asignación de Géneros Extrapolación: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AR" sz="1800" dirty="0"/>
              <a:t>Utilización de perfil navegador + perfil de usuario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AR" sz="1800" dirty="0"/>
              <a:t>Impacto en Explore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53088598-B0D1-4353-9320-239F45A752B4}"/>
              </a:ext>
            </a:extLst>
          </p:cNvPr>
          <p:cNvSpPr txBox="1">
            <a:spLocks/>
          </p:cNvSpPr>
          <p:nvPr/>
        </p:nvSpPr>
        <p:spPr bwMode="auto">
          <a:xfrm>
            <a:off x="476251" y="159808"/>
            <a:ext cx="10972800" cy="649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eaLnBrk="1" hangingPunct="1"/>
            <a:r>
              <a:rPr lang="es-ES" altLang="es-ES" sz="3600" dirty="0" smtClean="0">
                <a:solidFill>
                  <a:schemeClr val="tx1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Status actual</a:t>
            </a:r>
            <a:endParaRPr lang="es-ES" altLang="es-ES" sz="3600" dirty="0">
              <a:solidFill>
                <a:schemeClr val="tx1"/>
              </a:solidFill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0AF081C7-DF0E-4513-9592-31057DE55122}"/>
              </a:ext>
            </a:extLst>
          </p:cNvPr>
          <p:cNvSpPr txBox="1">
            <a:spLocks/>
          </p:cNvSpPr>
          <p:nvPr/>
        </p:nvSpPr>
        <p:spPr>
          <a:xfrm>
            <a:off x="9374675" y="251512"/>
            <a:ext cx="2512765" cy="587829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1800" b="0" i="0" kern="1200" spc="-10" baseline="0" dirty="0" smtClean="0">
                <a:solidFill>
                  <a:schemeClr val="bg1"/>
                </a:solidFill>
                <a:latin typeface="Telefonica ExtraLight" charset="0"/>
                <a:ea typeface="Telefonica ExtraLight" charset="0"/>
                <a:cs typeface="Telefonica ExtraLight" charset="0"/>
                <a:sym typeface="Gill Sans" charset="0"/>
              </a:defRPr>
            </a:lvl1pPr>
            <a:lvl2pPr marL="1066773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Arial" pitchFamily="34" charset="0"/>
              <a:buChar char="–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»"/>
              <a:defRPr sz="27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ES_tradnl" altLang="es-ES" sz="11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USO INTERNO RESERVADO</a:t>
            </a:r>
            <a:endParaRPr lang="en-US" altLang="es-ES" sz="1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8" descr="Movistar TV (Argentina)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5216" y="2143112"/>
            <a:ext cx="698267" cy="43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Descargar Movistar Play para Smart TV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452" y="1988287"/>
            <a:ext cx="1335313" cy="734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906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8"/>
          <p:cNvSpPr>
            <a:spLocks/>
          </p:cNvSpPr>
          <p:nvPr/>
        </p:nvSpPr>
        <p:spPr bwMode="auto">
          <a:xfrm>
            <a:off x="2131595" y="1480513"/>
            <a:ext cx="15791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algn="ctr" eaLnBrk="1" hangingPunct="1"/>
            <a:r>
              <a:rPr lang="en-US" altLang="es-ES" sz="2000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CAPTACION </a:t>
            </a:r>
            <a:endParaRPr lang="en-US" altLang="es-ES" sz="2000" b="1" dirty="0">
              <a:solidFill>
                <a:srgbClr val="FFFFFF"/>
              </a:solidFill>
              <a:cs typeface="Arial" panose="020B0604020202020204" pitchFamily="34" charset="0"/>
              <a:sym typeface="Verdana Bold"/>
            </a:endParaRPr>
          </a:p>
        </p:txBody>
      </p:sp>
      <p:sp>
        <p:nvSpPr>
          <p:cNvPr id="19463" name="Rectangle 38"/>
          <p:cNvSpPr>
            <a:spLocks/>
          </p:cNvSpPr>
          <p:nvPr/>
        </p:nvSpPr>
        <p:spPr bwMode="auto">
          <a:xfrm>
            <a:off x="8306136" y="1480513"/>
            <a:ext cx="6219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algn="ctr" eaLnBrk="1" hangingPunct="1"/>
            <a:r>
              <a:rPr lang="en-US" altLang="es-ES" sz="2000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USO</a:t>
            </a:r>
            <a:r>
              <a:rPr lang="en-US" altLang="es-ES" sz="1867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 </a:t>
            </a:r>
            <a:endParaRPr lang="en-US" altLang="es-ES" sz="1867" b="1" dirty="0">
              <a:solidFill>
                <a:srgbClr val="FFFFFF"/>
              </a:solidFill>
              <a:cs typeface="Arial" panose="020B0604020202020204" pitchFamily="34" charset="0"/>
              <a:sym typeface="Verdana Bold"/>
            </a:endParaRPr>
          </a:p>
        </p:txBody>
      </p:sp>
      <p:sp>
        <p:nvSpPr>
          <p:cNvPr id="13" name="Text Box 5"/>
          <p:cNvSpPr txBox="1">
            <a:spLocks/>
          </p:cNvSpPr>
          <p:nvPr/>
        </p:nvSpPr>
        <p:spPr bwMode="auto">
          <a:xfrm>
            <a:off x="1152533" y="1275278"/>
            <a:ext cx="962023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73050" indent="-2730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000" dirty="0"/>
              <a:t>Canales: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AR" sz="2000" dirty="0"/>
              <a:t>SMS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AR" sz="2000" dirty="0"/>
              <a:t>Mail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AR" sz="2000" dirty="0"/>
              <a:t>Explore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AR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000" dirty="0"/>
              <a:t>El contenido se determina por medio de la aplicación de </a:t>
            </a:r>
            <a:r>
              <a:rPr lang="es-AR" sz="2000" dirty="0" err="1"/>
              <a:t>Wunder</a:t>
            </a:r>
            <a:endParaRPr lang="es-AR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AR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000" dirty="0"/>
              <a:t>Aplicación de géneros por Explore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000" dirty="0"/>
              <a:t>Explore (a líneas </a:t>
            </a:r>
            <a:r>
              <a:rPr lang="es-AR" sz="2000" dirty="0" smtClean="0"/>
              <a:t>móviles</a:t>
            </a:r>
            <a:r>
              <a:rPr lang="es-AR" sz="2000" dirty="0" smtClean="0">
                <a:sym typeface="Wingdings" panose="05000000000000000000" pitchFamily="2" charset="2"/>
              </a:rPr>
              <a:t></a:t>
            </a:r>
            <a:r>
              <a:rPr lang="es-AR" sz="2000" dirty="0" smtClean="0"/>
              <a:t> </a:t>
            </a:r>
            <a:r>
              <a:rPr lang="es-AR" sz="2000" dirty="0"/>
              <a:t>una oferta de MVS Play)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000" dirty="0"/>
              <a:t>Se aplican reglas y criterios que definen la oferta comercial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2000" dirty="0" smtClean="0"/>
              <a:t>Si </a:t>
            </a:r>
            <a:r>
              <a:rPr lang="es-AR" sz="2000" dirty="0"/>
              <a:t>ya tiene MVS Play (paquete) se le ofrece un contenido que </a:t>
            </a:r>
            <a:r>
              <a:rPr lang="es-AR" sz="2000" dirty="0" smtClean="0"/>
              <a:t>varía </a:t>
            </a:r>
            <a:r>
              <a:rPr lang="es-AR" sz="2000" dirty="0"/>
              <a:t>mes a mes (</a:t>
            </a:r>
            <a:r>
              <a:rPr lang="es-AR" sz="2000" i="1" dirty="0" err="1"/>
              <a:t>Recomendador</a:t>
            </a:r>
            <a:r>
              <a:rPr lang="es-AR" sz="2000" dirty="0"/>
              <a:t> de contenido) dependiendo de la suscripción que </a:t>
            </a:r>
            <a:r>
              <a:rPr lang="es-AR" sz="2000" dirty="0" smtClean="0"/>
              <a:t>tiene </a:t>
            </a:r>
            <a:r>
              <a:rPr lang="es-AR" sz="2000" dirty="0"/>
              <a:t>el cliente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53088598-B0D1-4353-9320-239F45A752B4}"/>
              </a:ext>
            </a:extLst>
          </p:cNvPr>
          <p:cNvSpPr txBox="1">
            <a:spLocks/>
          </p:cNvSpPr>
          <p:nvPr/>
        </p:nvSpPr>
        <p:spPr bwMode="auto">
          <a:xfrm>
            <a:off x="476251" y="159808"/>
            <a:ext cx="10972800" cy="649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eaLnBrk="1" hangingPunct="1"/>
            <a:r>
              <a:rPr lang="es-ES" altLang="es-ES" sz="3600" dirty="0" smtClean="0">
                <a:solidFill>
                  <a:schemeClr val="tx1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Campañas activas</a:t>
            </a:r>
            <a:endParaRPr lang="es-ES" altLang="es-ES" sz="3600" dirty="0">
              <a:solidFill>
                <a:schemeClr val="tx1"/>
              </a:solidFill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0AF081C7-DF0E-4513-9592-31057DE55122}"/>
              </a:ext>
            </a:extLst>
          </p:cNvPr>
          <p:cNvSpPr txBox="1">
            <a:spLocks/>
          </p:cNvSpPr>
          <p:nvPr/>
        </p:nvSpPr>
        <p:spPr>
          <a:xfrm>
            <a:off x="9374675" y="251512"/>
            <a:ext cx="2512765" cy="587829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1800" b="0" i="0" kern="1200" spc="-10" baseline="0" dirty="0" smtClean="0">
                <a:solidFill>
                  <a:schemeClr val="bg1"/>
                </a:solidFill>
                <a:latin typeface="Telefonica ExtraLight" charset="0"/>
                <a:ea typeface="Telefonica ExtraLight" charset="0"/>
                <a:cs typeface="Telefonica ExtraLight" charset="0"/>
                <a:sym typeface="Gill Sans" charset="0"/>
              </a:defRPr>
            </a:lvl1pPr>
            <a:lvl2pPr marL="1066773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Arial" pitchFamily="34" charset="0"/>
              <a:buChar char="–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»"/>
              <a:defRPr sz="27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ES_tradnl" altLang="es-ES" sz="11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USO INTERNO RESERVADO</a:t>
            </a:r>
            <a:endParaRPr lang="en-US" altLang="es-ES" sz="1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Picture 10" descr="Descargar Movistar Play para Smart TV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723" y="1227020"/>
            <a:ext cx="2794475" cy="153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18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 18"/>
          <p:cNvSpPr/>
          <p:nvPr/>
        </p:nvSpPr>
        <p:spPr>
          <a:xfrm rot="10800000">
            <a:off x="6821510" y="1107209"/>
            <a:ext cx="3686175" cy="571500"/>
          </a:xfrm>
          <a:custGeom>
            <a:avLst/>
            <a:gdLst>
              <a:gd name="connsiteX0" fmla="*/ 1425753 w 1425753"/>
              <a:gd name="connsiteY0" fmla="*/ 642675 h 642675"/>
              <a:gd name="connsiteX1" fmla="*/ 0 w 1425753"/>
              <a:gd name="connsiteY1" fmla="*/ 642675 h 642675"/>
              <a:gd name="connsiteX2" fmla="*/ 0 w 1425753"/>
              <a:gd name="connsiteY2" fmla="*/ 139201 h 642675"/>
              <a:gd name="connsiteX3" fmla="*/ 527765 w 1425753"/>
              <a:gd name="connsiteY3" fmla="*/ 139201 h 642675"/>
              <a:gd name="connsiteX4" fmla="*/ 707002 w 1425753"/>
              <a:gd name="connsiteY4" fmla="*/ 0 h 642675"/>
              <a:gd name="connsiteX5" fmla="*/ 897990 w 1425753"/>
              <a:gd name="connsiteY5" fmla="*/ 139201 h 642675"/>
              <a:gd name="connsiteX6" fmla="*/ 1425753 w 1425753"/>
              <a:gd name="connsiteY6" fmla="*/ 139201 h 64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5753" h="642675">
                <a:moveTo>
                  <a:pt x="1425753" y="642675"/>
                </a:moveTo>
                <a:lnTo>
                  <a:pt x="0" y="642675"/>
                </a:lnTo>
                <a:lnTo>
                  <a:pt x="0" y="139201"/>
                </a:lnTo>
                <a:lnTo>
                  <a:pt x="527765" y="139201"/>
                </a:lnTo>
                <a:lnTo>
                  <a:pt x="707002" y="0"/>
                </a:lnTo>
                <a:lnTo>
                  <a:pt x="897990" y="139201"/>
                </a:lnTo>
                <a:lnTo>
                  <a:pt x="1425753" y="1392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_tradnl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0" name="Forma libre 19"/>
          <p:cNvSpPr/>
          <p:nvPr/>
        </p:nvSpPr>
        <p:spPr>
          <a:xfrm rot="10800000">
            <a:off x="1032041" y="1106921"/>
            <a:ext cx="3676649" cy="571500"/>
          </a:xfrm>
          <a:custGeom>
            <a:avLst/>
            <a:gdLst>
              <a:gd name="connsiteX0" fmla="*/ 1425753 w 1425753"/>
              <a:gd name="connsiteY0" fmla="*/ 642675 h 642675"/>
              <a:gd name="connsiteX1" fmla="*/ 0 w 1425753"/>
              <a:gd name="connsiteY1" fmla="*/ 642675 h 642675"/>
              <a:gd name="connsiteX2" fmla="*/ 0 w 1425753"/>
              <a:gd name="connsiteY2" fmla="*/ 139201 h 642675"/>
              <a:gd name="connsiteX3" fmla="*/ 527765 w 1425753"/>
              <a:gd name="connsiteY3" fmla="*/ 139201 h 642675"/>
              <a:gd name="connsiteX4" fmla="*/ 707002 w 1425753"/>
              <a:gd name="connsiteY4" fmla="*/ 0 h 642675"/>
              <a:gd name="connsiteX5" fmla="*/ 897990 w 1425753"/>
              <a:gd name="connsiteY5" fmla="*/ 139201 h 642675"/>
              <a:gd name="connsiteX6" fmla="*/ 1425753 w 1425753"/>
              <a:gd name="connsiteY6" fmla="*/ 139201 h 64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5753" h="642675">
                <a:moveTo>
                  <a:pt x="1425753" y="642675"/>
                </a:moveTo>
                <a:lnTo>
                  <a:pt x="0" y="642675"/>
                </a:lnTo>
                <a:lnTo>
                  <a:pt x="0" y="139201"/>
                </a:lnTo>
                <a:lnTo>
                  <a:pt x="527765" y="139201"/>
                </a:lnTo>
                <a:lnTo>
                  <a:pt x="707002" y="0"/>
                </a:lnTo>
                <a:lnTo>
                  <a:pt x="897990" y="139201"/>
                </a:lnTo>
                <a:lnTo>
                  <a:pt x="1425753" y="13920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_tradnl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461" name="Rectangle 38"/>
          <p:cNvSpPr>
            <a:spLocks/>
          </p:cNvSpPr>
          <p:nvPr/>
        </p:nvSpPr>
        <p:spPr bwMode="auto">
          <a:xfrm>
            <a:off x="2131595" y="1194762"/>
            <a:ext cx="15791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algn="ctr" eaLnBrk="1" hangingPunct="1"/>
            <a:r>
              <a:rPr lang="en-US" altLang="es-ES" sz="2000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CAPTACION </a:t>
            </a:r>
            <a:endParaRPr lang="en-US" altLang="es-ES" sz="2000" b="1" dirty="0">
              <a:solidFill>
                <a:srgbClr val="FFFFFF"/>
              </a:solidFill>
              <a:cs typeface="Arial" panose="020B0604020202020204" pitchFamily="34" charset="0"/>
              <a:sym typeface="Verdana Bold"/>
            </a:endParaRPr>
          </a:p>
        </p:txBody>
      </p:sp>
      <p:sp>
        <p:nvSpPr>
          <p:cNvPr id="19462" name="Text Box 5"/>
          <p:cNvSpPr txBox="1">
            <a:spLocks/>
          </p:cNvSpPr>
          <p:nvPr/>
        </p:nvSpPr>
        <p:spPr bwMode="auto">
          <a:xfrm>
            <a:off x="6210650" y="1790812"/>
            <a:ext cx="562193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73050" indent="-2730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dirty="0"/>
              <a:t>Modelo de Winback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Utilización de </a:t>
            </a:r>
            <a:r>
              <a:rPr lang="es-AR" sz="1600" dirty="0" smtClean="0"/>
              <a:t>tráfico </a:t>
            </a:r>
            <a:r>
              <a:rPr lang="es-AR" sz="1600" dirty="0"/>
              <a:t>de contenidos + perfil de visualización + perfil navegador + perfil de usuario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Target: usuarios dormidos/baja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Output: probabilidad de Winback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dirty="0"/>
              <a:t>Modelo de recomendación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Personalización de contenido por usuario de acuerdo a consumo de visualización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Utilización de </a:t>
            </a:r>
            <a:r>
              <a:rPr lang="es-AR" sz="1600" dirty="0" smtClean="0"/>
              <a:t>tráfico </a:t>
            </a:r>
            <a:r>
              <a:rPr lang="es-AR" sz="1600" dirty="0"/>
              <a:t>de contenidos + perfil de visualización + perfil navegador + perfil de usuario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Output: Lista de contenido recomendado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dirty="0"/>
              <a:t>Modelo de propensión consumo de paquetes/suscripción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Utilización de </a:t>
            </a:r>
            <a:r>
              <a:rPr lang="es-AR" sz="1600" dirty="0" smtClean="0"/>
              <a:t>tráfico </a:t>
            </a:r>
            <a:r>
              <a:rPr lang="es-AR" sz="1600" dirty="0"/>
              <a:t>de contenidos + perfil de visualización + perfil navegador + perfil de usuario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Output: probabilidad de suscripción o consumo de paquetes + recomendación de acción</a:t>
            </a:r>
            <a:endParaRPr lang="en-US" sz="1600" dirty="0"/>
          </a:p>
        </p:txBody>
      </p:sp>
      <p:sp>
        <p:nvSpPr>
          <p:cNvPr id="19463" name="Rectangle 38"/>
          <p:cNvSpPr>
            <a:spLocks/>
          </p:cNvSpPr>
          <p:nvPr/>
        </p:nvSpPr>
        <p:spPr bwMode="auto">
          <a:xfrm>
            <a:off x="8399654" y="1195051"/>
            <a:ext cx="6219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algn="ctr" eaLnBrk="1" hangingPunct="1"/>
            <a:r>
              <a:rPr lang="en-US" altLang="es-ES" sz="2000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USO</a:t>
            </a:r>
            <a:r>
              <a:rPr lang="en-US" altLang="es-ES" sz="1867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 </a:t>
            </a:r>
            <a:endParaRPr lang="en-US" altLang="es-ES" sz="1867" b="1" dirty="0">
              <a:solidFill>
                <a:srgbClr val="FFFFFF"/>
              </a:solidFill>
              <a:cs typeface="Arial" panose="020B0604020202020204" pitchFamily="34" charset="0"/>
              <a:sym typeface="Verdana Bold"/>
            </a:endParaRPr>
          </a:p>
        </p:txBody>
      </p:sp>
      <p:sp>
        <p:nvSpPr>
          <p:cNvPr id="13" name="Text Box 5"/>
          <p:cNvSpPr txBox="1">
            <a:spLocks/>
          </p:cNvSpPr>
          <p:nvPr/>
        </p:nvSpPr>
        <p:spPr bwMode="auto">
          <a:xfrm>
            <a:off x="644251" y="1790812"/>
            <a:ext cx="53184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73050" indent="-2730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dirty="0"/>
              <a:t>Modelo de Propensión de Uso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Utilización de trafico de contenidos + perfil navegador + perfil de usuario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Output: probabilidad de capta para MVS Play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dirty="0"/>
              <a:t>Personalización de contenido por usuario: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Utilización de la extrapolación de géneros para aplicarse en campañas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dirty="0"/>
              <a:t>Modelo de venta de IPTV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Campaña o modelo atado a Modelo de FTTH (en desarrollo)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dirty="0"/>
              <a:t>Modelo de Cross-</a:t>
            </a:r>
            <a:r>
              <a:rPr lang="es-AR" sz="2000" dirty="0" err="1"/>
              <a:t>Selling</a:t>
            </a:r>
            <a:r>
              <a:rPr lang="es-AR" sz="2000" dirty="0"/>
              <a:t> de IPTV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AR" sz="1600" dirty="0"/>
              <a:t>Campaña o modelo destinado a los que podrían tener </a:t>
            </a:r>
            <a:r>
              <a:rPr lang="es-AR" sz="1600" dirty="0" smtClean="0"/>
              <a:t>IPTV y que hoy tienen FTTH</a:t>
            </a:r>
            <a:endParaRPr lang="es-AR" sz="1600" dirty="0"/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53088598-B0D1-4353-9320-239F45A752B4}"/>
              </a:ext>
            </a:extLst>
          </p:cNvPr>
          <p:cNvSpPr txBox="1">
            <a:spLocks/>
          </p:cNvSpPr>
          <p:nvPr/>
        </p:nvSpPr>
        <p:spPr bwMode="auto">
          <a:xfrm>
            <a:off x="476251" y="159808"/>
            <a:ext cx="10972800" cy="649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eaLnBrk="1" hangingPunct="1"/>
            <a:r>
              <a:rPr lang="es-ES" altLang="es-ES" sz="3600" dirty="0" smtClean="0">
                <a:solidFill>
                  <a:schemeClr val="tx1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Propuestas</a:t>
            </a:r>
            <a:endParaRPr lang="es-ES" altLang="es-ES" sz="3600" dirty="0">
              <a:solidFill>
                <a:schemeClr val="tx1"/>
              </a:solidFill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0AF081C7-DF0E-4513-9592-31057DE55122}"/>
              </a:ext>
            </a:extLst>
          </p:cNvPr>
          <p:cNvSpPr txBox="1">
            <a:spLocks/>
          </p:cNvSpPr>
          <p:nvPr/>
        </p:nvSpPr>
        <p:spPr>
          <a:xfrm>
            <a:off x="9374675" y="251512"/>
            <a:ext cx="2512765" cy="587829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1800" b="0" i="0" kern="1200" spc="-10" baseline="0" dirty="0" smtClean="0">
                <a:solidFill>
                  <a:schemeClr val="bg1"/>
                </a:solidFill>
                <a:latin typeface="Telefonica ExtraLight" charset="0"/>
                <a:ea typeface="Telefonica ExtraLight" charset="0"/>
                <a:cs typeface="Telefonica ExtraLight" charset="0"/>
                <a:sym typeface="Gill Sans" charset="0"/>
              </a:defRPr>
            </a:lvl1pPr>
            <a:lvl2pPr marL="1066773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Arial" pitchFamily="34" charset="0"/>
              <a:buChar char="–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»"/>
              <a:defRPr sz="27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ES_tradnl" altLang="es-ES" sz="11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USO INTERNO RESERVADO</a:t>
            </a:r>
            <a:endParaRPr lang="en-US" altLang="es-ES" sz="1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915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Objeto 5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585916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Diapositiva de think-cell" r:id="rId59" imgW="425" imgH="426" progId="TCLayout.ActiveDocument.1">
                  <p:embed/>
                </p:oleObj>
              </mc:Choice>
              <mc:Fallback>
                <p:oleObj name="Diapositiva de think-cell" r:id="rId59" imgW="425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s-AR" sz="1400" dirty="0"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1" name="Rectangle 38"/>
          <p:cNvSpPr>
            <a:spLocks/>
          </p:cNvSpPr>
          <p:nvPr/>
        </p:nvSpPr>
        <p:spPr bwMode="auto">
          <a:xfrm>
            <a:off x="2131595" y="1194762"/>
            <a:ext cx="15791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algn="ctr" eaLnBrk="1" hangingPunct="1"/>
            <a:r>
              <a:rPr lang="en-US" altLang="es-ES" sz="2000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CAPTACION </a:t>
            </a:r>
            <a:endParaRPr lang="en-US" altLang="es-ES" sz="2000" b="1" dirty="0">
              <a:solidFill>
                <a:srgbClr val="FFFFFF"/>
              </a:solidFill>
              <a:cs typeface="Arial" panose="020B0604020202020204" pitchFamily="34" charset="0"/>
              <a:sym typeface="Verdana Bold"/>
            </a:endParaRPr>
          </a:p>
        </p:txBody>
      </p:sp>
      <p:sp>
        <p:nvSpPr>
          <p:cNvPr id="19463" name="Rectangle 38"/>
          <p:cNvSpPr>
            <a:spLocks/>
          </p:cNvSpPr>
          <p:nvPr/>
        </p:nvSpPr>
        <p:spPr bwMode="auto">
          <a:xfrm>
            <a:off x="8399654" y="1195051"/>
            <a:ext cx="6219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algn="ctr" eaLnBrk="1" hangingPunct="1"/>
            <a:r>
              <a:rPr lang="en-US" altLang="es-ES" sz="2000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USO</a:t>
            </a:r>
            <a:r>
              <a:rPr lang="en-US" altLang="es-ES" sz="1867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 </a:t>
            </a:r>
            <a:endParaRPr lang="en-US" altLang="es-ES" sz="1867" b="1" dirty="0">
              <a:solidFill>
                <a:srgbClr val="FFFFFF"/>
              </a:solidFill>
              <a:cs typeface="Arial" panose="020B0604020202020204" pitchFamily="34" charset="0"/>
              <a:sym typeface="Verdana Bold"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53088598-B0D1-4353-9320-239F45A752B4}"/>
              </a:ext>
            </a:extLst>
          </p:cNvPr>
          <p:cNvSpPr txBox="1">
            <a:spLocks/>
          </p:cNvSpPr>
          <p:nvPr/>
        </p:nvSpPr>
        <p:spPr bwMode="auto">
          <a:xfrm>
            <a:off x="476251" y="159808"/>
            <a:ext cx="10972800" cy="649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eaLnBrk="1" hangingPunct="1"/>
            <a:r>
              <a:rPr lang="es-ES" altLang="es-ES" sz="3600" dirty="0" smtClean="0">
                <a:solidFill>
                  <a:schemeClr val="tx1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Propuestas: cronograma</a:t>
            </a:r>
            <a:endParaRPr lang="es-ES" altLang="es-ES" sz="3600" dirty="0">
              <a:solidFill>
                <a:schemeClr val="tx1"/>
              </a:solidFill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0AF081C7-DF0E-4513-9592-31057DE55122}"/>
              </a:ext>
            </a:extLst>
          </p:cNvPr>
          <p:cNvSpPr txBox="1">
            <a:spLocks/>
          </p:cNvSpPr>
          <p:nvPr/>
        </p:nvSpPr>
        <p:spPr>
          <a:xfrm>
            <a:off x="9374675" y="251512"/>
            <a:ext cx="2512765" cy="587829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1800" b="0" i="0" kern="1200" spc="-10" baseline="0" dirty="0" smtClean="0">
                <a:solidFill>
                  <a:schemeClr val="bg1"/>
                </a:solidFill>
                <a:latin typeface="Telefonica ExtraLight" charset="0"/>
                <a:ea typeface="Telefonica ExtraLight" charset="0"/>
                <a:cs typeface="Telefonica ExtraLight" charset="0"/>
                <a:sym typeface="Gill Sans" charset="0"/>
              </a:defRPr>
            </a:lvl1pPr>
            <a:lvl2pPr marL="1066773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Arial" pitchFamily="34" charset="0"/>
              <a:buChar char="–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»"/>
              <a:defRPr sz="27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ES_tradnl" altLang="es-ES" sz="11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USO INTERNO RESERVADO</a:t>
            </a:r>
            <a:endParaRPr lang="en-US" altLang="es-ES" sz="1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Rectángulo 10"/>
          <p:cNvSpPr/>
          <p:nvPr>
            <p:custDataLst>
              <p:tags r:id="rId4"/>
            </p:custDataLst>
          </p:nvPr>
        </p:nvSpPr>
        <p:spPr bwMode="auto">
          <a:xfrm>
            <a:off x="820738" y="3390900"/>
            <a:ext cx="10318750" cy="441325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Rectángulo 1"/>
          <p:cNvSpPr/>
          <p:nvPr>
            <p:custDataLst>
              <p:tags r:id="rId5"/>
            </p:custDataLst>
          </p:nvPr>
        </p:nvSpPr>
        <p:spPr bwMode="auto">
          <a:xfrm>
            <a:off x="820738" y="2462213"/>
            <a:ext cx="10318750" cy="441325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2" name="Rectángulo 111"/>
          <p:cNvSpPr/>
          <p:nvPr>
            <p:custDataLst>
              <p:tags r:id="rId6"/>
            </p:custDataLst>
          </p:nvPr>
        </p:nvSpPr>
        <p:spPr bwMode="auto">
          <a:xfrm>
            <a:off x="820738" y="2022475"/>
            <a:ext cx="10318750" cy="439738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ectángulo 12"/>
          <p:cNvSpPr/>
          <p:nvPr>
            <p:custDataLst>
              <p:tags r:id="rId7"/>
            </p:custDataLst>
          </p:nvPr>
        </p:nvSpPr>
        <p:spPr bwMode="auto">
          <a:xfrm>
            <a:off x="820738" y="3832225"/>
            <a:ext cx="10318750" cy="441325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0" name="Rectángulo 59"/>
          <p:cNvSpPr/>
          <p:nvPr>
            <p:custDataLst>
              <p:tags r:id="rId8"/>
            </p:custDataLst>
          </p:nvPr>
        </p:nvSpPr>
        <p:spPr bwMode="auto">
          <a:xfrm>
            <a:off x="4719638" y="1501775"/>
            <a:ext cx="1195388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864CD31C-E604-4170-B1CE-FD61BEF30E89}" type="datetime'''''''''''''''''''''''Q''''''''''''''''''''''''''''''3'''''''">
              <a:rPr lang="es-AR" altLang="en-US" sz="1400" b="1" smtClean="0">
                <a:solidFill>
                  <a:schemeClr val="tx1"/>
                </a:solidFill>
                <a:sym typeface="+mn-lt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Q3</a:t>
            </a:fld>
            <a:endParaRPr lang="es-AR" sz="1400" b="1">
              <a:solidFill>
                <a:schemeClr val="tx1"/>
              </a:solidFill>
              <a:sym typeface="+mn-lt"/>
            </a:endParaRPr>
          </a:p>
        </p:txBody>
      </p:sp>
      <p:sp>
        <p:nvSpPr>
          <p:cNvPr id="63" name="Rectángulo 62"/>
          <p:cNvSpPr/>
          <p:nvPr>
            <p:custDataLst>
              <p:tags r:id="rId9"/>
            </p:custDataLst>
          </p:nvPr>
        </p:nvSpPr>
        <p:spPr bwMode="auto">
          <a:xfrm>
            <a:off x="5915025" y="1501775"/>
            <a:ext cx="1801813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62DF984A-C2DF-42AD-948B-BB8709DAD3E7}" type="datetime'''''''Q''''''4'''''''''''''''''''''''''''''''''''''''">
              <a:rPr lang="es-AR" altLang="en-US" sz="14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Q4</a:t>
            </a:fld>
            <a:endParaRPr lang="es-AR" sz="1400" b="1">
              <a:solidFill>
                <a:schemeClr val="tx1"/>
              </a:solidFill>
              <a:sym typeface="+mn-lt"/>
            </a:endParaRPr>
          </a:p>
        </p:txBody>
      </p:sp>
      <p:sp>
        <p:nvSpPr>
          <p:cNvPr id="75" name="Rectángulo 74"/>
          <p:cNvSpPr/>
          <p:nvPr>
            <p:custDataLst>
              <p:tags r:id="rId10"/>
            </p:custDataLst>
          </p:nvPr>
        </p:nvSpPr>
        <p:spPr bwMode="auto">
          <a:xfrm>
            <a:off x="7716838" y="1501775"/>
            <a:ext cx="1763713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F99BED6-6438-4A31-A52B-DE80DDCD9352}" type="datetime'''''''''''Q''''''''''''''''''''''''''''''''1'''''">
              <a:rPr lang="es-AR" altLang="en-US" sz="14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Q1</a:t>
            </a:fld>
            <a:endParaRPr lang="es-AR" sz="1400" b="1">
              <a:solidFill>
                <a:schemeClr val="tx1"/>
              </a:solidFill>
              <a:sym typeface="+mn-lt"/>
            </a:endParaRPr>
          </a:p>
        </p:txBody>
      </p:sp>
      <p:sp>
        <p:nvSpPr>
          <p:cNvPr id="15" name="Rectángulo 14"/>
          <p:cNvSpPr/>
          <p:nvPr>
            <p:custDataLst>
              <p:tags r:id="rId11"/>
            </p:custDataLst>
          </p:nvPr>
        </p:nvSpPr>
        <p:spPr bwMode="auto">
          <a:xfrm>
            <a:off x="4719639" y="1762125"/>
            <a:ext cx="608013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7C56CF5-EAE9-444D-9C6F-81ACD5E46EF0}" type="datetime'''''''''a''''''''go''''''''''''''''''''.'''''">
              <a:rPr lang="es-AR" altLang="en-US" sz="1400" b="1" smtClean="0">
                <a:solidFill>
                  <a:schemeClr val="tx1"/>
                </a:solidFill>
                <a:sym typeface="+mn-lt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ago.</a:t>
            </a:fld>
            <a:endParaRPr lang="es-AR" sz="1400" b="1">
              <a:solidFill>
                <a:schemeClr val="tx1"/>
              </a:solidFill>
              <a:sym typeface="+mn-lt"/>
            </a:endParaRPr>
          </a:p>
        </p:txBody>
      </p:sp>
      <p:sp>
        <p:nvSpPr>
          <p:cNvPr id="32" name="Rectángulo 31"/>
          <p:cNvSpPr/>
          <p:nvPr>
            <p:custDataLst>
              <p:tags r:id="rId12"/>
            </p:custDataLst>
          </p:nvPr>
        </p:nvSpPr>
        <p:spPr bwMode="auto">
          <a:xfrm>
            <a:off x="5327651" y="1762125"/>
            <a:ext cx="587375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4C738801-434C-40E3-865F-65EC73A4D7EC}" type="datetime'''s''''''''''''e''''''''''''''''p''''.'''''''''''''''''''">
              <a:rPr lang="es-AR" altLang="en-US" sz="14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sep.</a:t>
            </a:fld>
            <a:endParaRPr lang="es-AR" sz="1400" b="1">
              <a:solidFill>
                <a:schemeClr val="tx1"/>
              </a:solidFill>
              <a:sym typeface="+mn-lt"/>
            </a:endParaRPr>
          </a:p>
        </p:txBody>
      </p:sp>
      <p:sp>
        <p:nvSpPr>
          <p:cNvPr id="33" name="Rectángulo 32"/>
          <p:cNvSpPr/>
          <p:nvPr>
            <p:custDataLst>
              <p:tags r:id="rId13"/>
            </p:custDataLst>
          </p:nvPr>
        </p:nvSpPr>
        <p:spPr bwMode="auto">
          <a:xfrm>
            <a:off x="5915026" y="1762125"/>
            <a:ext cx="606425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E4F452D-2994-466C-B0B2-7750883303C2}" type="datetime'''o''''''''''c''''''''''''t''''''''''.'''''''''''''''''''''">
              <a:rPr lang="es-AR" altLang="en-US" sz="14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oct.</a:t>
            </a:fld>
            <a:endParaRPr lang="es-AR" sz="1400" b="1">
              <a:solidFill>
                <a:schemeClr val="tx1"/>
              </a:solidFill>
              <a:sym typeface="+mn-lt"/>
            </a:endParaRPr>
          </a:p>
        </p:txBody>
      </p:sp>
      <p:sp>
        <p:nvSpPr>
          <p:cNvPr id="65" name="Rectángulo 64"/>
          <p:cNvSpPr/>
          <p:nvPr>
            <p:custDataLst>
              <p:tags r:id="rId14"/>
            </p:custDataLst>
          </p:nvPr>
        </p:nvSpPr>
        <p:spPr bwMode="auto">
          <a:xfrm>
            <a:off x="6521451" y="1762125"/>
            <a:ext cx="588963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A0D88933-378C-4FA1-9D2A-C611219A5135}" type="datetime'''''n''o''''''''''''v''''''''''''''.'">
              <a:rPr lang="es-AR" altLang="en-US" sz="14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nov.</a:t>
            </a:fld>
            <a:endParaRPr lang="es-AR" sz="1400" b="1">
              <a:solidFill>
                <a:schemeClr val="tx1"/>
              </a:solidFill>
              <a:sym typeface="+mn-lt"/>
            </a:endParaRPr>
          </a:p>
        </p:txBody>
      </p:sp>
      <p:sp>
        <p:nvSpPr>
          <p:cNvPr id="66" name="Rectángulo 65"/>
          <p:cNvSpPr/>
          <p:nvPr>
            <p:custDataLst>
              <p:tags r:id="rId15"/>
            </p:custDataLst>
          </p:nvPr>
        </p:nvSpPr>
        <p:spPr bwMode="auto">
          <a:xfrm>
            <a:off x="7110414" y="1762125"/>
            <a:ext cx="606425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31980FC-455F-44FB-8512-9779D73E0B1D}" type="datetime'''''''''''''''''''''''''''''d''i''''''''c.'''''''''''''''">
              <a:rPr lang="es-AR" altLang="en-US" sz="14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dic.</a:t>
            </a:fld>
            <a:endParaRPr lang="es-AR" sz="1400" b="1">
              <a:solidFill>
                <a:schemeClr val="tx1"/>
              </a:solidFill>
              <a:sym typeface="+mn-lt"/>
            </a:endParaRPr>
          </a:p>
        </p:txBody>
      </p:sp>
      <p:sp>
        <p:nvSpPr>
          <p:cNvPr id="67" name="Rectángulo 66"/>
          <p:cNvSpPr/>
          <p:nvPr>
            <p:custDataLst>
              <p:tags r:id="rId16"/>
            </p:custDataLst>
          </p:nvPr>
        </p:nvSpPr>
        <p:spPr bwMode="auto">
          <a:xfrm>
            <a:off x="7716839" y="1762125"/>
            <a:ext cx="608013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5987DD3-AAAA-4300-8517-02F05BB6F9C2}" type="datetime'''''''''''''''''e''n''''''''''''''e''''''''''''''''.'''">
              <a:rPr lang="es-AR" altLang="en-US" sz="14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ene.</a:t>
            </a:fld>
            <a:endParaRPr lang="es-AR" sz="1400" b="1">
              <a:solidFill>
                <a:schemeClr val="tx1"/>
              </a:solidFill>
              <a:sym typeface="+mn-lt"/>
            </a:endParaRPr>
          </a:p>
        </p:txBody>
      </p:sp>
      <p:sp>
        <p:nvSpPr>
          <p:cNvPr id="68" name="Rectángulo 67"/>
          <p:cNvSpPr/>
          <p:nvPr>
            <p:custDataLst>
              <p:tags r:id="rId17"/>
            </p:custDataLst>
          </p:nvPr>
        </p:nvSpPr>
        <p:spPr bwMode="auto">
          <a:xfrm>
            <a:off x="8324850" y="1762125"/>
            <a:ext cx="547688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9BEDADD-2151-45DC-8464-193E8A651479}" type="datetime'''''''''''''''''''''''f''''''''e''''''''''''''''''b.'''">
              <a:rPr lang="es-AR" altLang="en-US" sz="14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feb.</a:t>
            </a:fld>
            <a:endParaRPr lang="es-AR" sz="1400" b="1">
              <a:solidFill>
                <a:schemeClr val="tx1"/>
              </a:solidFill>
              <a:sym typeface="+mn-lt"/>
            </a:endParaRPr>
          </a:p>
        </p:txBody>
      </p:sp>
      <p:sp>
        <p:nvSpPr>
          <p:cNvPr id="69" name="Rectángulo 68"/>
          <p:cNvSpPr/>
          <p:nvPr>
            <p:custDataLst>
              <p:tags r:id="rId18"/>
            </p:custDataLst>
          </p:nvPr>
        </p:nvSpPr>
        <p:spPr bwMode="auto">
          <a:xfrm>
            <a:off x="8872539" y="1762125"/>
            <a:ext cx="608013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A34E2208-EA9F-45E7-BE02-1069F9E708E9}" type="datetime'''''''''''''''''''''''m''''''''''a''''r''''''''.'''''''''''''">
              <a:rPr lang="es-AR" altLang="en-US" sz="14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mar.</a:t>
            </a:fld>
            <a:endParaRPr lang="es-AR" sz="1400" b="1">
              <a:solidFill>
                <a:schemeClr val="tx1"/>
              </a:solidFill>
              <a:sym typeface="+mn-lt"/>
            </a:endParaRPr>
          </a:p>
        </p:txBody>
      </p:sp>
      <p:cxnSp>
        <p:nvCxnSpPr>
          <p:cNvPr id="165" name="Conector recto 164"/>
          <p:cNvCxnSpPr/>
          <p:nvPr>
            <p:custDataLst>
              <p:tags r:id="rId19"/>
            </p:custDataLst>
          </p:nvPr>
        </p:nvCxnSpPr>
        <p:spPr bwMode="auto">
          <a:xfrm>
            <a:off x="11139488" y="2022475"/>
            <a:ext cx="0" cy="313372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/>
          <p:cNvCxnSpPr/>
          <p:nvPr>
            <p:custDataLst>
              <p:tags r:id="rId20"/>
            </p:custDataLst>
          </p:nvPr>
        </p:nvCxnSpPr>
        <p:spPr bwMode="auto">
          <a:xfrm>
            <a:off x="5915025" y="2022475"/>
            <a:ext cx="0" cy="31337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/>
          <p:cNvCxnSpPr/>
          <p:nvPr>
            <p:custDataLst>
              <p:tags r:id="rId21"/>
            </p:custDataLst>
          </p:nvPr>
        </p:nvCxnSpPr>
        <p:spPr bwMode="auto">
          <a:xfrm>
            <a:off x="8324850" y="2022475"/>
            <a:ext cx="0" cy="31337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/>
          <p:cNvCxnSpPr/>
          <p:nvPr>
            <p:custDataLst>
              <p:tags r:id="rId22"/>
            </p:custDataLst>
          </p:nvPr>
        </p:nvCxnSpPr>
        <p:spPr bwMode="auto">
          <a:xfrm>
            <a:off x="7110413" y="2022475"/>
            <a:ext cx="0" cy="31337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/>
          <p:cNvCxnSpPr/>
          <p:nvPr>
            <p:custDataLst>
              <p:tags r:id="rId23"/>
            </p:custDataLst>
          </p:nvPr>
        </p:nvCxnSpPr>
        <p:spPr bwMode="auto">
          <a:xfrm>
            <a:off x="6521450" y="2022475"/>
            <a:ext cx="0" cy="31337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/>
          <p:cNvCxnSpPr/>
          <p:nvPr>
            <p:custDataLst>
              <p:tags r:id="rId24"/>
            </p:custDataLst>
          </p:nvPr>
        </p:nvCxnSpPr>
        <p:spPr bwMode="auto">
          <a:xfrm>
            <a:off x="9480550" y="2022475"/>
            <a:ext cx="0" cy="313372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/>
          <p:cNvCxnSpPr/>
          <p:nvPr>
            <p:custDataLst>
              <p:tags r:id="rId25"/>
            </p:custDataLst>
          </p:nvPr>
        </p:nvCxnSpPr>
        <p:spPr bwMode="auto">
          <a:xfrm>
            <a:off x="5327650" y="2022475"/>
            <a:ext cx="0" cy="31337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/>
          <p:cNvCxnSpPr/>
          <p:nvPr>
            <p:custDataLst>
              <p:tags r:id="rId26"/>
            </p:custDataLst>
          </p:nvPr>
        </p:nvCxnSpPr>
        <p:spPr bwMode="auto">
          <a:xfrm>
            <a:off x="7716838" y="2022475"/>
            <a:ext cx="0" cy="31337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/>
          <p:cNvCxnSpPr/>
          <p:nvPr>
            <p:custDataLst>
              <p:tags r:id="rId27"/>
            </p:custDataLst>
          </p:nvPr>
        </p:nvCxnSpPr>
        <p:spPr bwMode="auto">
          <a:xfrm>
            <a:off x="8872538" y="2022475"/>
            <a:ext cx="0" cy="31337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/>
          <p:cNvCxnSpPr/>
          <p:nvPr>
            <p:custDataLst>
              <p:tags r:id="rId28"/>
            </p:custDataLst>
          </p:nvPr>
        </p:nvCxnSpPr>
        <p:spPr bwMode="auto">
          <a:xfrm>
            <a:off x="4719638" y="2022475"/>
            <a:ext cx="0" cy="313372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/>
          <p:cNvCxnSpPr/>
          <p:nvPr>
            <p:custDataLst>
              <p:tags r:id="rId29"/>
            </p:custDataLst>
          </p:nvPr>
        </p:nvCxnSpPr>
        <p:spPr bwMode="auto">
          <a:xfrm>
            <a:off x="820738" y="2022475"/>
            <a:ext cx="0" cy="313372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/>
          <p:cNvCxnSpPr/>
          <p:nvPr>
            <p:custDataLst>
              <p:tags r:id="rId30"/>
            </p:custDataLst>
          </p:nvPr>
        </p:nvCxnSpPr>
        <p:spPr bwMode="auto">
          <a:xfrm>
            <a:off x="820738" y="3390900"/>
            <a:ext cx="103187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/>
          <p:cNvCxnSpPr/>
          <p:nvPr>
            <p:custDataLst>
              <p:tags r:id="rId31"/>
            </p:custDataLst>
          </p:nvPr>
        </p:nvCxnSpPr>
        <p:spPr bwMode="auto">
          <a:xfrm>
            <a:off x="820738" y="5156200"/>
            <a:ext cx="1031875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/>
          <p:cNvCxnSpPr/>
          <p:nvPr>
            <p:custDataLst>
              <p:tags r:id="rId32"/>
            </p:custDataLst>
          </p:nvPr>
        </p:nvCxnSpPr>
        <p:spPr bwMode="auto">
          <a:xfrm>
            <a:off x="820738" y="2022475"/>
            <a:ext cx="1031875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ángulo 121"/>
          <p:cNvSpPr/>
          <p:nvPr>
            <p:custDataLst>
              <p:tags r:id="rId33"/>
            </p:custDataLst>
          </p:nvPr>
        </p:nvSpPr>
        <p:spPr bwMode="gray">
          <a:xfrm>
            <a:off x="6521450" y="4470400"/>
            <a:ext cx="1195388" cy="79375"/>
          </a:xfrm>
          <a:prstGeom prst="rect">
            <a:avLst/>
          </a:prstGeom>
          <a:solidFill>
            <a:schemeClr val="tx2"/>
          </a:solidFill>
          <a:ln w="19050" algn="ctr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4" name="Rectángulo 113"/>
          <p:cNvSpPr/>
          <p:nvPr>
            <p:custDataLst>
              <p:tags r:id="rId34"/>
            </p:custDataLst>
          </p:nvPr>
        </p:nvSpPr>
        <p:spPr bwMode="gray">
          <a:xfrm>
            <a:off x="5327650" y="2613025"/>
            <a:ext cx="1193800" cy="79375"/>
          </a:xfrm>
          <a:prstGeom prst="rect">
            <a:avLst/>
          </a:prstGeom>
          <a:solidFill>
            <a:schemeClr val="accent2"/>
          </a:solidFill>
          <a:ln w="19050" algn="ctr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3" name="Rectángulo 112"/>
          <p:cNvSpPr/>
          <p:nvPr>
            <p:custDataLst>
              <p:tags r:id="rId35"/>
            </p:custDataLst>
          </p:nvPr>
        </p:nvSpPr>
        <p:spPr bwMode="gray">
          <a:xfrm>
            <a:off x="5327650" y="2217738"/>
            <a:ext cx="1782763" cy="79375"/>
          </a:xfrm>
          <a:prstGeom prst="rect">
            <a:avLst/>
          </a:prstGeom>
          <a:solidFill>
            <a:schemeClr val="accent2"/>
          </a:solidFill>
          <a:ln w="19050" algn="ctr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9" name="Flecha izquierda 118"/>
          <p:cNvSpPr/>
          <p:nvPr>
            <p:custDataLst>
              <p:tags r:id="rId36"/>
            </p:custDataLst>
          </p:nvPr>
        </p:nvSpPr>
        <p:spPr bwMode="gray">
          <a:xfrm>
            <a:off x="4618038" y="3548063"/>
            <a:ext cx="1198563" cy="158750"/>
          </a:xfrm>
          <a:prstGeom prst="leftArrow">
            <a:avLst>
              <a:gd name="adj1" fmla="val 50000"/>
              <a:gd name="adj2" fmla="val 40657"/>
            </a:avLst>
          </a:prstGeom>
          <a:solidFill>
            <a:schemeClr val="accent2"/>
          </a:solidFill>
          <a:ln w="19050" algn="ctr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2" name="Flecha derecha 161"/>
          <p:cNvSpPr/>
          <p:nvPr>
            <p:custDataLst>
              <p:tags r:id="rId37"/>
            </p:custDataLst>
          </p:nvPr>
        </p:nvSpPr>
        <p:spPr bwMode="gray">
          <a:xfrm>
            <a:off x="7716838" y="4826000"/>
            <a:ext cx="1865313" cy="158750"/>
          </a:xfrm>
          <a:prstGeom prst="rightArrow">
            <a:avLst>
              <a:gd name="adj1" fmla="val 50000"/>
              <a:gd name="adj2" fmla="val 40657"/>
            </a:avLst>
          </a:prstGeom>
          <a:solidFill>
            <a:schemeClr val="tx2"/>
          </a:solidFill>
          <a:ln w="19050" algn="ctr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6" name="Rectángulo 115"/>
          <p:cNvSpPr/>
          <p:nvPr>
            <p:custDataLst>
              <p:tags r:id="rId38"/>
            </p:custDataLst>
          </p:nvPr>
        </p:nvSpPr>
        <p:spPr bwMode="gray">
          <a:xfrm>
            <a:off x="6521450" y="3100388"/>
            <a:ext cx="1195388" cy="79375"/>
          </a:xfrm>
          <a:prstGeom prst="rect">
            <a:avLst/>
          </a:prstGeom>
          <a:solidFill>
            <a:schemeClr val="tx2"/>
          </a:solidFill>
          <a:ln w="19050" algn="ctr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1" name="Rectángulo 120"/>
          <p:cNvSpPr/>
          <p:nvPr>
            <p:custDataLst>
              <p:tags r:id="rId39"/>
            </p:custDataLst>
          </p:nvPr>
        </p:nvSpPr>
        <p:spPr bwMode="gray">
          <a:xfrm>
            <a:off x="5327650" y="3983038"/>
            <a:ext cx="1193800" cy="79375"/>
          </a:xfrm>
          <a:prstGeom prst="rect">
            <a:avLst/>
          </a:prstGeom>
          <a:solidFill>
            <a:schemeClr val="accent2"/>
          </a:solidFill>
          <a:ln w="19050" algn="ctr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Triángulo isósceles 30"/>
          <p:cNvSpPr/>
          <p:nvPr>
            <p:custDataLst>
              <p:tags r:id="rId40"/>
            </p:custDataLst>
          </p:nvPr>
        </p:nvSpPr>
        <p:spPr bwMode="gray">
          <a:xfrm>
            <a:off x="4937125" y="5262563"/>
            <a:ext cx="114300" cy="114300"/>
          </a:xfrm>
          <a:prstGeom prst="triangle">
            <a:avLst/>
          </a:prstGeom>
          <a:solidFill>
            <a:schemeClr val="tx1"/>
          </a:solidFill>
          <a:ln w="9525" algn="ctr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7" name="Rectángulo 166"/>
          <p:cNvSpPr/>
          <p:nvPr>
            <p:custDataLst>
              <p:tags r:id="rId41"/>
            </p:custDataLst>
          </p:nvPr>
        </p:nvSpPr>
        <p:spPr bwMode="auto">
          <a:xfrm>
            <a:off x="9653588" y="3924300"/>
            <a:ext cx="14144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AR" altLang="en-US" sz="1400" dirty="0" err="1" smtClean="0">
                <a:solidFill>
                  <a:schemeClr val="tx1"/>
                </a:solidFill>
                <a:sym typeface="+mn-lt"/>
              </a:rPr>
              <a:t>Andre</a:t>
            </a:r>
            <a:r>
              <a:rPr lang="es-AR" altLang="en-US" sz="1400" dirty="0" smtClean="0">
                <a:solidFill>
                  <a:schemeClr val="tx1"/>
                </a:solidFill>
                <a:sym typeface="+mn-lt"/>
              </a:rPr>
              <a:t>/Vicky/Charly</a:t>
            </a:r>
            <a:endParaRPr lang="es-AR" sz="14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9" name="Rectángulo 8"/>
          <p:cNvSpPr/>
          <p:nvPr>
            <p:custDataLst>
              <p:tags r:id="rId42"/>
            </p:custDataLst>
          </p:nvPr>
        </p:nvSpPr>
        <p:spPr bwMode="auto">
          <a:xfrm>
            <a:off x="892175" y="1785938"/>
            <a:ext cx="7477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AR" altLang="en-US" sz="1400" b="1" dirty="0" smtClean="0">
                <a:solidFill>
                  <a:schemeClr val="tx1"/>
                </a:solidFill>
                <a:sym typeface="+mn-lt"/>
              </a:rPr>
              <a:t>Propuesta</a:t>
            </a:r>
            <a:endParaRPr lang="es-AR" sz="1400" b="1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18" name="Rectángulo 117"/>
          <p:cNvSpPr/>
          <p:nvPr>
            <p:custDataLst>
              <p:tags r:id="rId43"/>
            </p:custDataLst>
          </p:nvPr>
        </p:nvSpPr>
        <p:spPr bwMode="auto">
          <a:xfrm>
            <a:off x="892175" y="4806950"/>
            <a:ext cx="19780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E5C8B361-7CC0-49DC-BBF6-F06C0ABD5A51}" type="datetime'Mo''''del''''o'''' d''''e re''''''com''end''''ac''ión'">
              <a:rPr lang="es-AR" altLang="en-US" sz="1400" b="1" smtClean="0">
                <a:solidFill>
                  <a:schemeClr val="tx1"/>
                </a:solidFill>
                <a:sym typeface="+mn-lt"/>
              </a:rPr>
              <a:pPr>
                <a:spcBef>
                  <a:spcPct val="0"/>
                </a:spcBef>
                <a:spcAft>
                  <a:spcPct val="0"/>
                </a:spcAft>
              </a:pPr>
              <a:t>Modelo de recomendación</a:t>
            </a:fld>
            <a:endParaRPr lang="es-AR" sz="1400" b="1" dirty="0">
              <a:solidFill>
                <a:schemeClr val="tx1"/>
              </a:solidFill>
              <a:sym typeface="+mn-lt"/>
            </a:endParaRPr>
          </a:p>
        </p:txBody>
      </p:sp>
      <p:sp useBgFill="1">
        <p:nvSpPr>
          <p:cNvPr id="17" name="Rectángulo 16"/>
          <p:cNvSpPr/>
          <p:nvPr>
            <p:custDataLst>
              <p:tags r:id="rId44"/>
            </p:custDataLst>
          </p:nvPr>
        </p:nvSpPr>
        <p:spPr bwMode="auto">
          <a:xfrm>
            <a:off x="4610100" y="5399088"/>
            <a:ext cx="769938" cy="212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FDDFFC11-FD9D-41E2-AB48-BA34A14532CF}" type="datetime'1''''''''''''''''''''''5''''/''8/''''202''0'''''''''''">
              <a:rPr lang="es-AR" altLang="en-US" sz="1400" smtClean="0">
                <a:solidFill>
                  <a:schemeClr val="tx1"/>
                </a:solidFill>
                <a:sym typeface="+mn-lt"/>
              </a:rPr>
              <a:pPr>
                <a:spcBef>
                  <a:spcPct val="0"/>
                </a:spcBef>
                <a:spcAft>
                  <a:spcPct val="0"/>
                </a:spcAft>
              </a:pPr>
              <a:t>15/8/2020</a:t>
            </a:fld>
            <a:endParaRPr lang="es-AR" sz="1400">
              <a:solidFill>
                <a:schemeClr val="tx1"/>
              </a:solidFill>
              <a:sym typeface="+mn-lt"/>
            </a:endParaRPr>
          </a:p>
        </p:txBody>
      </p:sp>
      <p:sp>
        <p:nvSpPr>
          <p:cNvPr id="164" name="Rectángulo 163"/>
          <p:cNvSpPr/>
          <p:nvPr>
            <p:custDataLst>
              <p:tags r:id="rId45"/>
            </p:custDataLst>
          </p:nvPr>
        </p:nvSpPr>
        <p:spPr bwMode="auto">
          <a:xfrm>
            <a:off x="9653588" y="1785938"/>
            <a:ext cx="93027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94C6980D-8366-4670-9592-639310EE2E60}" type="datetime'R''e''''''''''''s''p''''''o''n''sa''''''b''''''le'''''''''">
              <a:rPr lang="es-AR" altLang="en-US" sz="1400" b="1" smtClean="0">
                <a:solidFill>
                  <a:schemeClr val="tx1"/>
                </a:solidFill>
                <a:sym typeface="+mn-lt"/>
              </a:rPr>
              <a:pPr>
                <a:spcBef>
                  <a:spcPct val="0"/>
                </a:spcBef>
                <a:spcAft>
                  <a:spcPct val="0"/>
                </a:spcAft>
              </a:pPr>
              <a:t>Responsable</a:t>
            </a:fld>
            <a:endParaRPr lang="es-AR" sz="1400" b="1">
              <a:solidFill>
                <a:schemeClr val="tx1"/>
              </a:solidFill>
              <a:sym typeface="+mn-lt"/>
            </a:endParaRPr>
          </a:p>
        </p:txBody>
      </p:sp>
      <p:sp>
        <p:nvSpPr>
          <p:cNvPr id="173" name="Rectángulo 172"/>
          <p:cNvSpPr/>
          <p:nvPr>
            <p:custDataLst>
              <p:tags r:id="rId46"/>
            </p:custDataLst>
          </p:nvPr>
        </p:nvSpPr>
        <p:spPr bwMode="auto">
          <a:xfrm>
            <a:off x="9653588" y="3041650"/>
            <a:ext cx="615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AR" altLang="en-US" sz="1400" dirty="0" smtClean="0">
                <a:solidFill>
                  <a:schemeClr val="tx1"/>
                </a:solidFill>
              </a:rPr>
              <a:t>A definir</a:t>
            </a:r>
            <a:endParaRPr lang="es-AR" sz="14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7" name="Rectángulo 6"/>
          <p:cNvSpPr/>
          <p:nvPr>
            <p:custDataLst>
              <p:tags r:id="rId47"/>
            </p:custDataLst>
          </p:nvPr>
        </p:nvSpPr>
        <p:spPr bwMode="auto">
          <a:xfrm>
            <a:off x="892175" y="3529013"/>
            <a:ext cx="14017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FF68244-B5C2-4007-9039-4029579A7E05}" type="datetime'''''Mode''l''o'' v''''e''''''nta IP''''''''''''''T''''V'">
              <a:rPr lang="es-AR" altLang="en-US" sz="1400" b="1" smtClean="0">
                <a:solidFill>
                  <a:schemeClr val="tx1"/>
                </a:solidFill>
                <a:sym typeface="+mn-lt"/>
              </a:rPr>
              <a:pPr>
                <a:spcBef>
                  <a:spcPct val="0"/>
                </a:spcBef>
                <a:spcAft>
                  <a:spcPct val="0"/>
                </a:spcAft>
              </a:pPr>
              <a:t>Modelo venta IPTV</a:t>
            </a:fld>
            <a:endParaRPr lang="es-AR" sz="1400" b="1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71" name="Rectángulo 170"/>
          <p:cNvSpPr/>
          <p:nvPr>
            <p:custDataLst>
              <p:tags r:id="rId48"/>
            </p:custDataLst>
          </p:nvPr>
        </p:nvSpPr>
        <p:spPr bwMode="auto">
          <a:xfrm>
            <a:off x="9653588" y="2159000"/>
            <a:ext cx="9064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AR" altLang="en-US" sz="1400" dirty="0" smtClean="0">
                <a:solidFill>
                  <a:schemeClr val="tx1"/>
                </a:solidFill>
              </a:rPr>
              <a:t>Vicky/Charly</a:t>
            </a:r>
            <a:endParaRPr lang="es-AR" sz="14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17" name="Rectángulo 116"/>
          <p:cNvSpPr/>
          <p:nvPr>
            <p:custDataLst>
              <p:tags r:id="rId49"/>
            </p:custDataLst>
          </p:nvPr>
        </p:nvSpPr>
        <p:spPr bwMode="auto">
          <a:xfrm>
            <a:off x="892175" y="4411663"/>
            <a:ext cx="28384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12B816C-81CA-482C-B343-77C3478B7741}" type="datetime'''Mo''delo p''r''opens''i''ón cons''''umo de'' pac''''ks'''">
              <a:rPr lang="es-AR" altLang="en-US" sz="1400" b="1" smtClean="0">
                <a:solidFill>
                  <a:schemeClr val="tx1"/>
                </a:solidFill>
                <a:sym typeface="+mn-lt"/>
              </a:rPr>
              <a:pPr>
                <a:spcBef>
                  <a:spcPct val="0"/>
                </a:spcBef>
                <a:spcAft>
                  <a:spcPct val="0"/>
                </a:spcAft>
              </a:pPr>
              <a:t>Modelo propensión consumo de packs</a:t>
            </a:fld>
            <a:endParaRPr lang="es-AR" sz="1400" b="1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74" name="Rectángulo 173"/>
          <p:cNvSpPr/>
          <p:nvPr>
            <p:custDataLst>
              <p:tags r:id="rId50"/>
            </p:custDataLst>
          </p:nvPr>
        </p:nvSpPr>
        <p:spPr bwMode="auto">
          <a:xfrm>
            <a:off x="9653588" y="4411663"/>
            <a:ext cx="615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AR" altLang="en-US" sz="1400" dirty="0" smtClean="0">
                <a:solidFill>
                  <a:schemeClr val="tx1"/>
                </a:solidFill>
              </a:rPr>
              <a:t>A definir</a:t>
            </a:r>
            <a:endParaRPr lang="es-AR" sz="14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75" name="Rectángulo 174"/>
          <p:cNvSpPr/>
          <p:nvPr>
            <p:custDataLst>
              <p:tags r:id="rId51"/>
            </p:custDataLst>
          </p:nvPr>
        </p:nvSpPr>
        <p:spPr bwMode="auto">
          <a:xfrm>
            <a:off x="9653587" y="4806950"/>
            <a:ext cx="615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AR" altLang="en-US" sz="1400" dirty="0" smtClean="0">
                <a:solidFill>
                  <a:schemeClr val="tx1"/>
                </a:solidFill>
              </a:rPr>
              <a:t>A definir</a:t>
            </a:r>
            <a:endParaRPr lang="es-AR" sz="14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4" name="Rectángulo 3"/>
          <p:cNvSpPr/>
          <p:nvPr>
            <p:custDataLst>
              <p:tags r:id="rId52"/>
            </p:custDataLst>
          </p:nvPr>
        </p:nvSpPr>
        <p:spPr bwMode="auto">
          <a:xfrm>
            <a:off x="892175" y="2159000"/>
            <a:ext cx="2363788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673FB886-F007-4169-AF4E-4B9ACA9E660D}" type="datetime'Mo''del''''o ''Pr''''''''''op''''ens''ión ''U''SO'' ''MPLAY'">
              <a:rPr lang="es-AR" altLang="en-US" sz="1400" b="1" smtClean="0">
                <a:solidFill>
                  <a:schemeClr val="tx1"/>
                </a:solidFill>
                <a:sym typeface="+mn-lt"/>
              </a:rPr>
              <a:pPr>
                <a:spcBef>
                  <a:spcPct val="0"/>
                </a:spcBef>
                <a:spcAft>
                  <a:spcPct val="0"/>
                </a:spcAft>
              </a:pPr>
              <a:t>Modelo Propensión USO MPLAY</a:t>
            </a:fld>
            <a:endParaRPr lang="es-AR" sz="1400" b="1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5" name="Rectángulo 4"/>
          <p:cNvSpPr/>
          <p:nvPr>
            <p:custDataLst>
              <p:tags r:id="rId53"/>
            </p:custDataLst>
          </p:nvPr>
        </p:nvSpPr>
        <p:spPr bwMode="auto">
          <a:xfrm>
            <a:off x="892175" y="2554288"/>
            <a:ext cx="211137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7A1DEA7B-5B87-48D9-A639-2C062E26B7BE}" type="datetime'''Mode''''l''''o'' ''''de WINBAC''K ''M''''P''L''A''''Y'">
              <a:rPr lang="es-AR" altLang="en-US" sz="1400" b="1" smtClean="0">
                <a:solidFill>
                  <a:schemeClr val="tx1"/>
                </a:solidFill>
                <a:sym typeface="+mn-lt"/>
              </a:rPr>
              <a:pPr>
                <a:spcBef>
                  <a:spcPct val="0"/>
                </a:spcBef>
                <a:spcAft>
                  <a:spcPct val="0"/>
                </a:spcAft>
              </a:pPr>
              <a:t>Modelo de WINBACK MPLAY</a:t>
            </a:fld>
            <a:endParaRPr lang="es-AR" sz="1400" b="1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Rectángulo 7"/>
          <p:cNvSpPr/>
          <p:nvPr>
            <p:custDataLst>
              <p:tags r:id="rId54"/>
            </p:custDataLst>
          </p:nvPr>
        </p:nvSpPr>
        <p:spPr bwMode="auto">
          <a:xfrm>
            <a:off x="892175" y="3924300"/>
            <a:ext cx="18335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E4186B6C-BEAF-4679-93B3-6EC1D5A915D4}" type="datetime'Mod''''e''l''o'' ''''Cr''oss-I''''''P''''T''V/F''TT''''H'">
              <a:rPr lang="es-AR" altLang="en-US" sz="1400" b="1" smtClean="0">
                <a:solidFill>
                  <a:schemeClr val="tx1"/>
                </a:solidFill>
                <a:sym typeface="+mn-lt"/>
              </a:rPr>
              <a:pPr>
                <a:spcBef>
                  <a:spcPct val="0"/>
                </a:spcBef>
                <a:spcAft>
                  <a:spcPct val="0"/>
                </a:spcAft>
              </a:pPr>
              <a:t>Modelo Cross-IPTV/FTTH</a:t>
            </a:fld>
            <a:endParaRPr lang="es-AR" sz="1400" b="1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72" name="Rectángulo 171"/>
          <p:cNvSpPr/>
          <p:nvPr>
            <p:custDataLst>
              <p:tags r:id="rId55"/>
            </p:custDataLst>
          </p:nvPr>
        </p:nvSpPr>
        <p:spPr bwMode="auto">
          <a:xfrm>
            <a:off x="9653588" y="2554288"/>
            <a:ext cx="14081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AR" altLang="en-US" sz="1400" dirty="0" smtClean="0">
                <a:solidFill>
                  <a:schemeClr val="tx1"/>
                </a:solidFill>
              </a:rPr>
              <a:t>Vicky/Charly/</a:t>
            </a:r>
            <a:r>
              <a:rPr lang="es-AR" altLang="en-US" sz="1400" dirty="0" err="1" smtClean="0">
                <a:solidFill>
                  <a:schemeClr val="tx1"/>
                </a:solidFill>
              </a:rPr>
              <a:t>Andre</a:t>
            </a:r>
            <a:endParaRPr lang="es-AR" sz="14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6" name="Rectángulo 5"/>
          <p:cNvSpPr/>
          <p:nvPr>
            <p:custDataLst>
              <p:tags r:id="rId56"/>
            </p:custDataLst>
          </p:nvPr>
        </p:nvSpPr>
        <p:spPr bwMode="auto">
          <a:xfrm>
            <a:off x="892175" y="3041650"/>
            <a:ext cx="36544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A549BDC7-BC47-40D6-B345-25419CD96D9F}" type="datetime'Modelo personal''''izac''ión'' de c''ontenido por us''u''ario'">
              <a:rPr lang="es-AR" altLang="en-US" sz="1400" b="1" smtClean="0">
                <a:solidFill>
                  <a:schemeClr val="tx1"/>
                </a:solidFill>
                <a:sym typeface="+mn-lt"/>
              </a:rPr>
              <a:pPr>
                <a:spcBef>
                  <a:spcPct val="0"/>
                </a:spcBef>
                <a:spcAft>
                  <a:spcPct val="0"/>
                </a:spcAft>
              </a:pPr>
              <a:t>Modelo personalización de contenido por usuario</a:t>
            </a:fld>
            <a:endParaRPr lang="es-AR" sz="1400" b="1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70" name="Rectángulo 169"/>
          <p:cNvSpPr/>
          <p:nvPr>
            <p:custDataLst>
              <p:tags r:id="rId57"/>
            </p:custDataLst>
          </p:nvPr>
        </p:nvSpPr>
        <p:spPr bwMode="auto">
          <a:xfrm>
            <a:off x="9653588" y="3529013"/>
            <a:ext cx="9064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AR" altLang="en-US" sz="1400" dirty="0" smtClean="0">
                <a:solidFill>
                  <a:schemeClr val="tx1"/>
                </a:solidFill>
              </a:rPr>
              <a:t>Vicky/Charly</a:t>
            </a:r>
            <a:endParaRPr lang="es-AR" sz="1400" dirty="0">
              <a:solidFill>
                <a:schemeClr val="tx1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51578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8"/>
          <p:cNvSpPr>
            <a:spLocks/>
          </p:cNvSpPr>
          <p:nvPr/>
        </p:nvSpPr>
        <p:spPr bwMode="auto">
          <a:xfrm>
            <a:off x="2131595" y="1480513"/>
            <a:ext cx="15791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algn="ctr" eaLnBrk="1" hangingPunct="1"/>
            <a:r>
              <a:rPr lang="en-US" altLang="es-ES" sz="2000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CAPTACION </a:t>
            </a:r>
            <a:endParaRPr lang="en-US" altLang="es-ES" sz="2000" b="1" dirty="0">
              <a:solidFill>
                <a:srgbClr val="FFFFFF"/>
              </a:solidFill>
              <a:cs typeface="Arial" panose="020B0604020202020204" pitchFamily="34" charset="0"/>
              <a:sym typeface="Verdana Bold"/>
            </a:endParaRPr>
          </a:p>
        </p:txBody>
      </p:sp>
      <p:sp>
        <p:nvSpPr>
          <p:cNvPr id="19463" name="Rectangle 38"/>
          <p:cNvSpPr>
            <a:spLocks/>
          </p:cNvSpPr>
          <p:nvPr/>
        </p:nvSpPr>
        <p:spPr bwMode="auto">
          <a:xfrm>
            <a:off x="8306136" y="1480513"/>
            <a:ext cx="6219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algn="ctr" eaLnBrk="1" hangingPunct="1"/>
            <a:r>
              <a:rPr lang="en-US" altLang="es-ES" sz="2000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USO</a:t>
            </a:r>
            <a:r>
              <a:rPr lang="en-US" altLang="es-ES" sz="1867" b="1" dirty="0" smtClean="0">
                <a:solidFill>
                  <a:srgbClr val="FFFFFF"/>
                </a:solidFill>
                <a:cs typeface="Arial" panose="020B0604020202020204" pitchFamily="34" charset="0"/>
                <a:sym typeface="Verdana Bold"/>
              </a:rPr>
              <a:t> </a:t>
            </a:r>
            <a:endParaRPr lang="en-US" altLang="es-ES" sz="1867" b="1" dirty="0">
              <a:solidFill>
                <a:srgbClr val="FFFFFF"/>
              </a:solidFill>
              <a:cs typeface="Arial" panose="020B0604020202020204" pitchFamily="34" charset="0"/>
              <a:sym typeface="Verdana Bold"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53088598-B0D1-4353-9320-239F45A752B4}"/>
              </a:ext>
            </a:extLst>
          </p:cNvPr>
          <p:cNvSpPr txBox="1">
            <a:spLocks/>
          </p:cNvSpPr>
          <p:nvPr/>
        </p:nvSpPr>
        <p:spPr bwMode="auto">
          <a:xfrm>
            <a:off x="476251" y="159808"/>
            <a:ext cx="10972800" cy="649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eaLnBrk="1" hangingPunct="1"/>
            <a:r>
              <a:rPr lang="es-ES" altLang="es-ES" sz="3600" dirty="0" smtClean="0">
                <a:solidFill>
                  <a:schemeClr val="tx1"/>
                </a:solidFill>
                <a:ea typeface="MS PGothic" panose="020B0600070205080204" pitchFamily="34" charset="-128"/>
                <a:cs typeface="Arial" panose="020B0604020202020204" pitchFamily="34" charset="0"/>
              </a:rPr>
              <a:t>Próximos pasos: Fidelización</a:t>
            </a:r>
            <a:endParaRPr lang="es-ES" altLang="es-ES" sz="3600" dirty="0">
              <a:solidFill>
                <a:schemeClr val="tx1"/>
              </a:solidFill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0AF081C7-DF0E-4513-9592-31057DE55122}"/>
              </a:ext>
            </a:extLst>
          </p:cNvPr>
          <p:cNvSpPr txBox="1">
            <a:spLocks/>
          </p:cNvSpPr>
          <p:nvPr/>
        </p:nvSpPr>
        <p:spPr>
          <a:xfrm>
            <a:off x="9374675" y="251512"/>
            <a:ext cx="2512765" cy="587829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1800" b="0" i="0" kern="1200" spc="-10" baseline="0" dirty="0" smtClean="0">
                <a:solidFill>
                  <a:schemeClr val="bg1"/>
                </a:solidFill>
                <a:latin typeface="Telefonica ExtraLight" charset="0"/>
                <a:ea typeface="Telefonica ExtraLight" charset="0"/>
                <a:cs typeface="Telefonica ExtraLight" charset="0"/>
                <a:sym typeface="Gill Sans" charset="0"/>
              </a:defRPr>
            </a:lvl1pPr>
            <a:lvl2pPr marL="1066773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Arial" pitchFamily="34" charset="0"/>
              <a:buChar char="–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»"/>
              <a:defRPr sz="27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ES_tradnl" altLang="es-ES" sz="11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USO INTERNO RESERVADO</a:t>
            </a:r>
            <a:endParaRPr lang="en-US" altLang="es-ES" sz="1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/>
          </p:cNvSpPr>
          <p:nvPr/>
        </p:nvSpPr>
        <p:spPr bwMode="auto">
          <a:xfrm>
            <a:off x="1152533" y="1275277"/>
            <a:ext cx="888508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73050" indent="-2730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/>
              <a:t>Analítica descriptiva del </a:t>
            </a:r>
            <a:r>
              <a:rPr lang="es-AR" sz="1800" dirty="0" smtClean="0"/>
              <a:t>parque/entendimiento grupos de </a:t>
            </a:r>
            <a:r>
              <a:rPr lang="es-AR" sz="1800" dirty="0" err="1" smtClean="0"/>
              <a:t>churn</a:t>
            </a:r>
            <a:r>
              <a:rPr lang="es-AR" sz="1800" dirty="0" smtClean="0"/>
              <a:t>/detectar oportunidades </a:t>
            </a:r>
            <a:endParaRPr lang="es-A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/>
              <a:t>Modelo de Winback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/>
              <a:t>Modelo de Recomendación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/>
              <a:t>Modelo de probabilidad de baja Play/IPTV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/>
              <a:t>Modelo de Frecuencia de Uso</a:t>
            </a:r>
          </a:p>
        </p:txBody>
      </p:sp>
    </p:spTree>
    <p:extLst>
      <p:ext uri="{BB962C8B-B14F-4D97-AF65-F5344CB8AC3E}">
        <p14:creationId xmlns:p14="http://schemas.microsoft.com/office/powerpoint/2010/main" val="1850083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7351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370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#d/%#m/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d.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2&quot;&gt;&lt;elem m_fUsage=&quot;3.36609999999999986997E+00&quot;&gt;&lt;m_msothmcolidx val=&quot;0&quot;/&gt;&lt;m_rgb r=&quot;02&quot; g=&quot;D1&quot; b=&quot;FD&quot;/&gt;&lt;m_nBrightness endver=&quot;26206&quot; val=&quot;0&quot;/&gt;&lt;/elem&gt;&lt;elem m_fUsage=&quot;7.29000000000000092371E-01&quot;&gt;&lt;m_msothmcolidx val=&quot;0&quot;/&gt;&lt;m_rgb r=&quot;00&quot; g=&quot;ED&quot; b=&quot;FF&quot;/&gt;&lt;m_nBrightness endver=&quot;26206&quot; val=&quot;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nCkJXHLOq7ekaP68L9pX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HNYAPfUMmOeYdz6DrhQ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2DSTLLnIXnp419yQzRQH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FT1hMy5QWhlF0DRineY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7VIwhGY3IiAiHtb0DD.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nRJ69UDfIVWbWg9p9oC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8Frzv78ALaFccDcvTA.M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UoQclZvj0ZE5yCvJdCh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0q__7A9EmEGHWm7BHjPd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9njxVWcyAslozeHZd7.K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3hra5QVpMPaXO7nZdau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YZOQ6hLk8vCOPl8EuIN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hmCwXcNSgJXFtBc.hfS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jHiTkdksMTfdJW9NPaJ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8bQBM6LRebVxMgzm1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6LphDi5ilsuBB1lPMyLs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3qOt8uFBCQVTzMkqB_c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6NLFL4l53Hw2JMibnpkN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pd8abXMVil9jKq1qdOY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IHe6Vp8IdBG4kFzaTtNY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VbfV1dM2wcGFxAVmwDa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N_w1EokWUjj9hl_1Wys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5ogr458D9pW6xcgC3Hqt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9fZSgpjaRCUfkmn5Tdk6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d8T6EofOEJ0tQaa_joz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y5kWVbKbwMjYF3RFG6Bd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fAc941vTCcFOQD5xT80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K9KXsf4_S3jB7KD_MOT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vz1H69R6ynl9H_wUaCCq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_JBqlOz21LYclytpEaEL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r4.FgMNuRehU1gFySkS9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yGYmudwywE3VVYe_JEy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DGIOzP15mrLyUuCB9wNu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JpaWQiBFZjg_NqzEwQw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tCjnnrFhXUeWVv2aODG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ShqLK9.NGwyE1jaVFJ3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xz0tXUaYNugiFguz8Ap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thGIL4f7chfhvy1O01y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S43hVA7xWzsckXem1_8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fJo768GVBqV0l4.TD_bf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HGj.utVmtN_P7RUI.Zvh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Yl4NKHIPWyjOwS9vSwi1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spNrSOtARkkCpKRHd0a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Xu5EP5s1RvJFLoF8OWDH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TZdBtxYJSjYlQDclbCs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5UKjMTjFy.c0gE4Ci.r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uYPjZ198lDKK4IRAnrh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rS1aw4bZ3yCdpfhLwRSW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3_gEUdic_d.AoCKRoRd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4gAQ11rM5SXSVfk3bPHk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_UBPjmJXygdjkpQ.nrjv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qd4YijSH5oHFINt5.1EY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bEAVd2DG6Q9lbkQN2xk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RIAia2JGtyfjGXVXcqRO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OxPh0oY4JG1ZHMAPtoQg"/>
</p:tagLst>
</file>

<file path=ppt/theme/theme1.xml><?xml version="1.0" encoding="utf-8"?>
<a:theme xmlns:a="http://schemas.openxmlformats.org/drawingml/2006/main" name="INTERIORES PROYECTABLE">
  <a:themeElements>
    <a:clrScheme name="Personalizado 1">
      <a:dk1>
        <a:srgbClr val="003245"/>
      </a:dk1>
      <a:lt1>
        <a:srgbClr val="FFFFFF"/>
      </a:lt1>
      <a:dk2>
        <a:srgbClr val="2694B6"/>
      </a:dk2>
      <a:lt2>
        <a:srgbClr val="00EDFF"/>
      </a:lt2>
      <a:accent1>
        <a:srgbClr val="62E7FF"/>
      </a:accent1>
      <a:accent2>
        <a:srgbClr val="980098"/>
      </a:accent2>
      <a:accent3>
        <a:srgbClr val="FFFF00"/>
      </a:accent3>
      <a:accent4>
        <a:srgbClr val="00FF98"/>
      </a:accent4>
      <a:accent5>
        <a:srgbClr val="FF7B00"/>
      </a:accent5>
      <a:accent6>
        <a:srgbClr val="003245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=""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Interior">
  <a:themeElements>
    <a:clrScheme name="Personalizado 1">
      <a:dk1>
        <a:srgbClr val="003245"/>
      </a:dk1>
      <a:lt1>
        <a:srgbClr val="FFFFFF"/>
      </a:lt1>
      <a:dk2>
        <a:srgbClr val="2694B6"/>
      </a:dk2>
      <a:lt2>
        <a:srgbClr val="00EDFF"/>
      </a:lt2>
      <a:accent1>
        <a:srgbClr val="62E7FF"/>
      </a:accent1>
      <a:accent2>
        <a:srgbClr val="980098"/>
      </a:accent2>
      <a:accent3>
        <a:srgbClr val="FFFF00"/>
      </a:accent3>
      <a:accent4>
        <a:srgbClr val="00FF98"/>
      </a:accent4>
      <a:accent5>
        <a:srgbClr val="FF7B00"/>
      </a:accent5>
      <a:accent6>
        <a:srgbClr val="003245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=""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Titulo Capitulo">
  <a:themeElements>
    <a:clrScheme name="Personalizado 1">
      <a:dk1>
        <a:srgbClr val="003245"/>
      </a:dk1>
      <a:lt1>
        <a:srgbClr val="FFFFFF"/>
      </a:lt1>
      <a:dk2>
        <a:srgbClr val="2694B6"/>
      </a:dk2>
      <a:lt2>
        <a:srgbClr val="00EDFF"/>
      </a:lt2>
      <a:accent1>
        <a:srgbClr val="62E7FF"/>
      </a:accent1>
      <a:accent2>
        <a:srgbClr val="980098"/>
      </a:accent2>
      <a:accent3>
        <a:srgbClr val="FFFF00"/>
      </a:accent3>
      <a:accent4>
        <a:srgbClr val="00FF98"/>
      </a:accent4>
      <a:accent5>
        <a:srgbClr val="FF7B00"/>
      </a:accent5>
      <a:accent6>
        <a:srgbClr val="003245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=""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4R">
  <a:themeElements>
    <a:clrScheme name="Personalizado 1">
      <a:dk1>
        <a:srgbClr val="003245"/>
      </a:dk1>
      <a:lt1>
        <a:srgbClr val="FFFFFF"/>
      </a:lt1>
      <a:dk2>
        <a:srgbClr val="2694B6"/>
      </a:dk2>
      <a:lt2>
        <a:srgbClr val="00EDFF"/>
      </a:lt2>
      <a:accent1>
        <a:srgbClr val="62E7FF"/>
      </a:accent1>
      <a:accent2>
        <a:srgbClr val="980098"/>
      </a:accent2>
      <a:accent3>
        <a:srgbClr val="FFFF00"/>
      </a:accent3>
      <a:accent4>
        <a:srgbClr val="00FF98"/>
      </a:accent4>
      <a:accent5>
        <a:srgbClr val="FF7B00"/>
      </a:accent5>
      <a:accent6>
        <a:srgbClr val="003245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=""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Explicaciones">
  <a:themeElements>
    <a:clrScheme name="Personalizado 1">
      <a:dk1>
        <a:srgbClr val="003245"/>
      </a:dk1>
      <a:lt1>
        <a:srgbClr val="FFFFFF"/>
      </a:lt1>
      <a:dk2>
        <a:srgbClr val="2694B6"/>
      </a:dk2>
      <a:lt2>
        <a:srgbClr val="00EDFF"/>
      </a:lt2>
      <a:accent1>
        <a:srgbClr val="62E7FF"/>
      </a:accent1>
      <a:accent2>
        <a:srgbClr val="980098"/>
      </a:accent2>
      <a:accent3>
        <a:srgbClr val="FFFF00"/>
      </a:accent3>
      <a:accent4>
        <a:srgbClr val="00FF98"/>
      </a:accent4>
      <a:accent5>
        <a:srgbClr val="FF7B00"/>
      </a:accent5>
      <a:accent6>
        <a:srgbClr val="003245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=""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1_Indice">
  <a:themeElements>
    <a:clrScheme name="Personalizado 1">
      <a:dk1>
        <a:srgbClr val="003245"/>
      </a:dk1>
      <a:lt1>
        <a:srgbClr val="FFFFFF"/>
      </a:lt1>
      <a:dk2>
        <a:srgbClr val="2694B6"/>
      </a:dk2>
      <a:lt2>
        <a:srgbClr val="00EDFF"/>
      </a:lt2>
      <a:accent1>
        <a:srgbClr val="62E7FF"/>
      </a:accent1>
      <a:accent2>
        <a:srgbClr val="980098"/>
      </a:accent2>
      <a:accent3>
        <a:srgbClr val="FFFF00"/>
      </a:accent3>
      <a:accent4>
        <a:srgbClr val="00FF98"/>
      </a:accent4>
      <a:accent5>
        <a:srgbClr val="FF7B00"/>
      </a:accent5>
      <a:accent6>
        <a:srgbClr val="003245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=""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Portada">
  <a:themeElements>
    <a:clrScheme name="Personalizado 1">
      <a:dk1>
        <a:srgbClr val="003245"/>
      </a:dk1>
      <a:lt1>
        <a:srgbClr val="FFFFFF"/>
      </a:lt1>
      <a:dk2>
        <a:srgbClr val="2694B6"/>
      </a:dk2>
      <a:lt2>
        <a:srgbClr val="00EDFF"/>
      </a:lt2>
      <a:accent1>
        <a:srgbClr val="62E7FF"/>
      </a:accent1>
      <a:accent2>
        <a:srgbClr val="980098"/>
      </a:accent2>
      <a:accent3>
        <a:srgbClr val="FFFF00"/>
      </a:accent3>
      <a:accent4>
        <a:srgbClr val="00FF98"/>
      </a:accent4>
      <a:accent5>
        <a:srgbClr val="FF7B00"/>
      </a:accent5>
      <a:accent6>
        <a:srgbClr val="003245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=""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1_Diseño personalizado">
  <a:themeElements>
    <a:clrScheme name="PALETA COLORES PPT TELEFÓNICA">
      <a:dk1>
        <a:srgbClr val="008597"/>
      </a:dk1>
      <a:lt1>
        <a:srgbClr val="FFFFFF"/>
      </a:lt1>
      <a:dk2>
        <a:srgbClr val="006476"/>
      </a:dk2>
      <a:lt2>
        <a:srgbClr val="00C6DA"/>
      </a:lt2>
      <a:accent1>
        <a:srgbClr val="62E7FF"/>
      </a:accent1>
      <a:accent2>
        <a:srgbClr val="990099"/>
      </a:accent2>
      <a:accent3>
        <a:srgbClr val="FFFF00"/>
      </a:accent3>
      <a:accent4>
        <a:srgbClr val="00FF99"/>
      </a:accent4>
      <a:accent5>
        <a:srgbClr val="FF6633"/>
      </a:accent5>
      <a:accent6>
        <a:srgbClr val="003245"/>
      </a:accent6>
      <a:hlink>
        <a:srgbClr val="9A479C"/>
      </a:hlink>
      <a:folHlink>
        <a:srgbClr val="929292"/>
      </a:folHlink>
    </a:clrScheme>
    <a:fontScheme name="Personalizado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bg2"/>
          </a:solidFill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>
            <a:solidFill>
              <a:schemeClr val="tx2"/>
            </a:solidFill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ersonalizado 1">
    <a:dk1>
      <a:srgbClr val="003245"/>
    </a:dk1>
    <a:lt1>
      <a:srgbClr val="FFFFFF"/>
    </a:lt1>
    <a:dk2>
      <a:srgbClr val="2694B6"/>
    </a:dk2>
    <a:lt2>
      <a:srgbClr val="00EDFF"/>
    </a:lt2>
    <a:accent1>
      <a:srgbClr val="62E7FF"/>
    </a:accent1>
    <a:accent2>
      <a:srgbClr val="980098"/>
    </a:accent2>
    <a:accent3>
      <a:srgbClr val="FFFF00"/>
    </a:accent3>
    <a:accent4>
      <a:srgbClr val="00FF98"/>
    </a:accent4>
    <a:accent5>
      <a:srgbClr val="FF7B00"/>
    </a:accent5>
    <a:accent6>
      <a:srgbClr val="003245"/>
    </a:accent6>
    <a:hlink>
      <a:srgbClr val="FFFFFF"/>
    </a:hlink>
    <a:folHlink>
      <a:srgbClr val="FFFF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442</Words>
  <Application>Microsoft Office PowerPoint</Application>
  <PresentationFormat>Panorámica</PresentationFormat>
  <Paragraphs>108</Paragraphs>
  <Slides>7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8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25" baseType="lpstr">
      <vt:lpstr>MS PGothic</vt:lpstr>
      <vt:lpstr>Arial</vt:lpstr>
      <vt:lpstr>Calibri</vt:lpstr>
      <vt:lpstr>Courier New</vt:lpstr>
      <vt:lpstr>Gill Sans</vt:lpstr>
      <vt:lpstr>Telefonica ExtraLight</vt:lpstr>
      <vt:lpstr>Verdana Bold</vt:lpstr>
      <vt:lpstr>Wingdings</vt:lpstr>
      <vt:lpstr>ヒラギノ角ゴ ProN W3</vt:lpstr>
      <vt:lpstr>INTERIORES PROYECTABLE</vt:lpstr>
      <vt:lpstr>Interior</vt:lpstr>
      <vt:lpstr>Titulo Capitulo</vt:lpstr>
      <vt:lpstr>4R</vt:lpstr>
      <vt:lpstr>Explicaciones</vt:lpstr>
      <vt:lpstr>1_Indice</vt:lpstr>
      <vt:lpstr>Portada</vt:lpstr>
      <vt:lpstr>1_Diseño personalizado</vt:lpstr>
      <vt:lpstr>Diapositiva de think-cell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CASTELLONI, CLARISA NATALIA</dc:creator>
  <cp:lastModifiedBy>CASTELLONI, CLARISA NATALIA</cp:lastModifiedBy>
  <cp:revision>22</cp:revision>
  <dcterms:modified xsi:type="dcterms:W3CDTF">2020-08-19T18:54:11Z</dcterms:modified>
</cp:coreProperties>
</file>